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3" r:id="rId5"/>
    <p:sldId id="264" r:id="rId6"/>
    <p:sldId id="270" r:id="rId7"/>
    <p:sldId id="265" r:id="rId8"/>
    <p:sldId id="271" r:id="rId9"/>
    <p:sldId id="266" r:id="rId10"/>
    <p:sldId id="269" r:id="rId11"/>
    <p:sldId id="275" r:id="rId12"/>
    <p:sldId id="276" r:id="rId13"/>
    <p:sldId id="277" r:id="rId14"/>
    <p:sldId id="278" r:id="rId15"/>
  </p:sldIdLst>
  <p:sldSz cx="12192000" cy="6858000"/>
  <p:notesSz cx="6858000" cy="12192000"/>
  <p:embeddedFontLst>
    <p:embeddedFont>
      <p:font typeface="Pretendard Bold" panose="02000803000000020004" pitchFamily="2" charset="-127"/>
      <p:bold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Pretendard" panose="02000803000000020004" pitchFamily="2" charset="-127"/>
      <p:regular r:id="rId22"/>
      <p:bold r:id="rId23"/>
    </p:embeddedFont>
    <p:embeddedFont>
      <p:font typeface="Pretendard Black" panose="02000A03000000020004" pitchFamily="50" charset="-127"/>
      <p:bold r:id="rId24"/>
    </p:embeddedFont>
    <p:embeddedFont>
      <p:font typeface="Pretendard ExtraBold" panose="02000903000000020004" pitchFamily="50" charset="-127"/>
      <p:bold r:id="rId25"/>
    </p:embeddedFont>
    <p:embeddedFont>
      <p:font typeface="Pretendard SemiBold" panose="02000703000000020004" pitchFamily="50" charset="-127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040"/>
    <a:srgbClr val="30363D"/>
    <a:srgbClr val="F2C040"/>
    <a:srgbClr val="F1C040"/>
    <a:srgbClr val="2C333F"/>
    <a:srgbClr val="5B687E"/>
    <a:srgbClr val="455061"/>
    <a:srgbClr val="2A313D"/>
    <a:srgbClr val="161B22"/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8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02" y="1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049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49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8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01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59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03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01B0C2-B4C2-4E96-B034-001C9FACAE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· ROGUELIKE · DECK BUILDING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1554480"/>
            <a:ext cx="12161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1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 OF  PYTHON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0" y="4227984"/>
            <a:ext cx="12161520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⚔   텍스트 기반 로그라이크 덱빌딩 게임   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51960" y="5074920"/>
            <a:ext cx="3657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30352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 </a:t>
            </a:r>
            <a:r>
              <a:rPr lang="en-US" sz="1400" b="1" kern="0" spc="3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FLOORS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566928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MEMBERS  </a:t>
            </a:r>
            <a:r>
              <a:rPr lang="en-US" sz="14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임우솔   ·   이준민</a:t>
            </a:r>
            <a:endParaRPr lang="en-US" sz="1200" dirty="0"/>
          </a:p>
        </p:txBody>
      </p:sp>
      <p:sp>
        <p:nvSpPr>
          <p:cNvPr id="14" name="Shape 01232133">
            <a:extLst>
              <a:ext uri="{FF2B5EF4-FFF2-40B4-BE49-F238E27FC236}">
                <a16:creationId xmlns:a16="http://schemas.microsoft.com/office/drawing/2014/main" id="{00467177-91AD-4BCC-9F24-D426EA494201}"/>
              </a:ext>
            </a:extLst>
          </p:cNvPr>
          <p:cNvSpPr>
            <a:spLocks/>
          </p:cNvSpPr>
          <p:nvPr/>
        </p:nvSpPr>
        <p:spPr>
          <a:xfrm flipH="1" flipV="1">
            <a:off x="5196000" y="1278209"/>
            <a:ext cx="1800000" cy="36000"/>
          </a:xfrm>
          <a:prstGeom prst="rect">
            <a:avLst/>
          </a:prstGeom>
          <a:solidFill>
            <a:srgbClr val="F0C040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0566DF42-A272-42B6-8400-06D802BE93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발표 시점  |  100 Floors of Python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chemeClr val="bg1">
                    <a:lumMod val="85000"/>
                  </a:scheme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</a:t>
            </a:r>
            <a:endParaRPr lang="en-US" sz="20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kern="0" spc="1200" dirty="0">
                <a:solidFill>
                  <a:schemeClr val="bg1">
                    <a:lumMod val="85000"/>
                  </a:schemeClr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70114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기획 — 대규모 콘텐츠 지향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182880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층수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스테이지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8961120" y="182880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직업 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10469880" y="182880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6988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보스 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6988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5943600" y="306324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 종류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25+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7452360" y="306324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30+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8961120" y="306324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 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30+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10469880" y="306324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6988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6988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457200" y="478071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INITIAL SYSTEMS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5100755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직업 선택  ·  크리티컬  ·  회피  ·  가시  ·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피흡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</a:t>
            </a:r>
            <a:r>
              <a:rPr lang="en-US" altLang="ko-KR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…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" y="5393363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저주 시스템 (curses + 정화)  ·  50층</a:t>
            </a: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효과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7200" y="5685971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UI 탭 전환  ·   저주  ·  교대 패널티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5978579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공격 시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충전 (근접 +1 / 원거리 +2)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" y="6629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처음 </a:t>
            </a:r>
            <a:r>
              <a:rPr lang="en-US" sz="12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계획은</a:t>
            </a:r>
            <a:r>
              <a:rPr lang="en-US" sz="1200" i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풍성했지만, 완성도 있게 끝낼 수 </a:t>
            </a:r>
            <a:r>
              <a:rPr lang="en-US" sz="1200" i="1" dirty="0" err="1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없는</a:t>
            </a:r>
            <a:r>
              <a:rPr lang="en-US" sz="1200" i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i="1" dirty="0" err="1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규모였</a:t>
            </a:r>
            <a:r>
              <a:rPr lang="ko-KR" altLang="en-US" sz="1200" i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</a:t>
            </a:r>
            <a:r>
              <a:rPr lang="en-US" altLang="ko-KR" sz="1200" i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41" name="Shape 01232133">
            <a:extLst>
              <a:ext uri="{FF2B5EF4-FFF2-40B4-BE49-F238E27FC236}">
                <a16:creationId xmlns:a16="http://schemas.microsoft.com/office/drawing/2014/main" id="{E7D0FE3A-656C-4BA2-8A46-0E0E86E5ACB5}"/>
              </a:ext>
            </a:extLst>
          </p:cNvPr>
          <p:cNvSpPr>
            <a:spLocks/>
          </p:cNvSpPr>
          <p:nvPr/>
        </p:nvSpPr>
        <p:spPr>
          <a:xfrm flipH="1" flipV="1">
            <a:off x="516000" y="1456783"/>
            <a:ext cx="11160000" cy="10800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0566DF42-A272-42B6-8400-06D802BE93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kern="0" spc="1200" dirty="0">
                <a:solidFill>
                  <a:srgbClr val="8B949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</a:t>
            </a:r>
            <a:endParaRPr lang="en-US" sz="2400" dirty="0"/>
          </a:p>
        </p:txBody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B1F28C68-BF2D-4C02-BFEE-0C1E411FEBE5}"/>
              </a:ext>
            </a:extLst>
          </p:cNvPr>
          <p:cNvSpPr/>
          <p:nvPr/>
        </p:nvSpPr>
        <p:spPr>
          <a:xfrm>
            <a:off x="5934891" y="182880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68" name="Text 9">
            <a:extLst>
              <a:ext uri="{FF2B5EF4-FFF2-40B4-BE49-F238E27FC236}">
                <a16:creationId xmlns:a16="http://schemas.microsoft.com/office/drawing/2014/main" id="{F81CB99C-999D-4F1E-8F46-3CDE4E11320B}"/>
              </a:ext>
            </a:extLst>
          </p:cNvPr>
          <p:cNvSpPr/>
          <p:nvPr/>
        </p:nvSpPr>
        <p:spPr>
          <a:xfrm>
            <a:off x="5934891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층수</a:t>
            </a:r>
            <a:endParaRPr lang="en-US" sz="1000" dirty="0"/>
          </a:p>
        </p:txBody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4EB72777-F240-459B-A09C-7190677E4F6B}"/>
              </a:ext>
            </a:extLst>
          </p:cNvPr>
          <p:cNvSpPr/>
          <p:nvPr/>
        </p:nvSpPr>
        <p:spPr>
          <a:xfrm>
            <a:off x="5934891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3600" dirty="0"/>
          </a:p>
        </p:txBody>
      </p:sp>
      <p:sp>
        <p:nvSpPr>
          <p:cNvPr id="70" name="Shape 11">
            <a:extLst>
              <a:ext uri="{FF2B5EF4-FFF2-40B4-BE49-F238E27FC236}">
                <a16:creationId xmlns:a16="http://schemas.microsoft.com/office/drawing/2014/main" id="{B6D68F8F-710A-404D-BA43-D36AF8E6DC78}"/>
              </a:ext>
            </a:extLst>
          </p:cNvPr>
          <p:cNvSpPr/>
          <p:nvPr/>
        </p:nvSpPr>
        <p:spPr>
          <a:xfrm>
            <a:off x="7443651" y="182880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9C044DA9-E2AB-4518-9D1B-FFC84346CDE3}"/>
              </a:ext>
            </a:extLst>
          </p:cNvPr>
          <p:cNvSpPr/>
          <p:nvPr/>
        </p:nvSpPr>
        <p:spPr>
          <a:xfrm>
            <a:off x="7443651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스테이지</a:t>
            </a:r>
            <a:endParaRPr lang="en-US" sz="1000" dirty="0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D0EBDDC0-2003-4C04-9B8D-4E83CA02ECF3}"/>
              </a:ext>
            </a:extLst>
          </p:cNvPr>
          <p:cNvSpPr/>
          <p:nvPr/>
        </p:nvSpPr>
        <p:spPr>
          <a:xfrm>
            <a:off x="7443651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3600" dirty="0"/>
          </a:p>
        </p:txBody>
      </p:sp>
      <p:sp>
        <p:nvSpPr>
          <p:cNvPr id="73" name="Shape 14">
            <a:extLst>
              <a:ext uri="{FF2B5EF4-FFF2-40B4-BE49-F238E27FC236}">
                <a16:creationId xmlns:a16="http://schemas.microsoft.com/office/drawing/2014/main" id="{5CBC4D68-9BFF-4D7F-A268-4ECDC1CC5530}"/>
              </a:ext>
            </a:extLst>
          </p:cNvPr>
          <p:cNvSpPr/>
          <p:nvPr/>
        </p:nvSpPr>
        <p:spPr>
          <a:xfrm>
            <a:off x="8952411" y="182880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3AA81B17-75C5-4AE8-91B1-DD5C39EE9AA4}"/>
              </a:ext>
            </a:extLst>
          </p:cNvPr>
          <p:cNvSpPr/>
          <p:nvPr/>
        </p:nvSpPr>
        <p:spPr>
          <a:xfrm>
            <a:off x="8952411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직업 수</a:t>
            </a:r>
            <a:endParaRPr lang="en-US" sz="1000" dirty="0"/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33135E7F-B46C-494E-BA07-F7EA9AD09A7F}"/>
              </a:ext>
            </a:extLst>
          </p:cNvPr>
          <p:cNvSpPr/>
          <p:nvPr/>
        </p:nvSpPr>
        <p:spPr>
          <a:xfrm>
            <a:off x="8952411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3600" dirty="0"/>
          </a:p>
        </p:txBody>
      </p:sp>
      <p:sp>
        <p:nvSpPr>
          <p:cNvPr id="76" name="Shape 17">
            <a:extLst>
              <a:ext uri="{FF2B5EF4-FFF2-40B4-BE49-F238E27FC236}">
                <a16:creationId xmlns:a16="http://schemas.microsoft.com/office/drawing/2014/main" id="{0E883523-1CEF-4871-8FCE-0E56F7D629B2}"/>
              </a:ext>
            </a:extLst>
          </p:cNvPr>
          <p:cNvSpPr/>
          <p:nvPr/>
        </p:nvSpPr>
        <p:spPr>
          <a:xfrm>
            <a:off x="10461171" y="182880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EB0B685F-9BD6-42EA-98FF-6FDC6CE0F811}"/>
              </a:ext>
            </a:extLst>
          </p:cNvPr>
          <p:cNvSpPr/>
          <p:nvPr/>
        </p:nvSpPr>
        <p:spPr>
          <a:xfrm>
            <a:off x="10461171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보스 수</a:t>
            </a:r>
            <a:endParaRPr lang="en-US" sz="1000" dirty="0"/>
          </a:p>
        </p:txBody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DE2AC9A2-B4B0-4A48-B3ED-EE164279CAED}"/>
              </a:ext>
            </a:extLst>
          </p:cNvPr>
          <p:cNvSpPr/>
          <p:nvPr/>
        </p:nvSpPr>
        <p:spPr>
          <a:xfrm>
            <a:off x="10461171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3600" dirty="0"/>
          </a:p>
        </p:txBody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C5ACA485-7538-425B-84B3-82C9D4859B43}"/>
              </a:ext>
            </a:extLst>
          </p:cNvPr>
          <p:cNvSpPr/>
          <p:nvPr/>
        </p:nvSpPr>
        <p:spPr>
          <a:xfrm>
            <a:off x="5934891" y="306324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904BB123-96E3-443C-B1C0-2AA02FDC4018}"/>
              </a:ext>
            </a:extLst>
          </p:cNvPr>
          <p:cNvSpPr/>
          <p:nvPr/>
        </p:nvSpPr>
        <p:spPr>
          <a:xfrm>
            <a:off x="5934891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 종류</a:t>
            </a:r>
            <a:endParaRPr lang="en-US" sz="1000" dirty="0"/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845E2527-5614-4FB2-94EC-940B000292EE}"/>
              </a:ext>
            </a:extLst>
          </p:cNvPr>
          <p:cNvSpPr/>
          <p:nvPr/>
        </p:nvSpPr>
        <p:spPr>
          <a:xfrm>
            <a:off x="5934891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3600" dirty="0"/>
          </a:p>
        </p:txBody>
      </p:sp>
      <p:sp>
        <p:nvSpPr>
          <p:cNvPr id="82" name="Shape 23">
            <a:extLst>
              <a:ext uri="{FF2B5EF4-FFF2-40B4-BE49-F238E27FC236}">
                <a16:creationId xmlns:a16="http://schemas.microsoft.com/office/drawing/2014/main" id="{812D992C-E634-407B-AAEF-CABC7EF80535}"/>
              </a:ext>
            </a:extLst>
          </p:cNvPr>
          <p:cNvSpPr/>
          <p:nvPr/>
        </p:nvSpPr>
        <p:spPr>
          <a:xfrm>
            <a:off x="7443651" y="306324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83" name="Text 24">
            <a:extLst>
              <a:ext uri="{FF2B5EF4-FFF2-40B4-BE49-F238E27FC236}">
                <a16:creationId xmlns:a16="http://schemas.microsoft.com/office/drawing/2014/main" id="{91B70C08-EF84-4B5F-B0AE-B1E2469C6927}"/>
              </a:ext>
            </a:extLst>
          </p:cNvPr>
          <p:cNvSpPr/>
          <p:nvPr/>
        </p:nvSpPr>
        <p:spPr>
          <a:xfrm>
            <a:off x="7443651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수</a:t>
            </a:r>
            <a:endParaRPr lang="en-US" sz="1000" dirty="0"/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99796748-0106-45F5-8A3A-F6411327BC95}"/>
              </a:ext>
            </a:extLst>
          </p:cNvPr>
          <p:cNvSpPr/>
          <p:nvPr/>
        </p:nvSpPr>
        <p:spPr>
          <a:xfrm>
            <a:off x="7443651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18</a:t>
            </a:r>
            <a:endParaRPr lang="en-US" sz="3600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896A8180-A15B-4D53-B31D-66C735E2179E}"/>
              </a:ext>
            </a:extLst>
          </p:cNvPr>
          <p:cNvSpPr/>
          <p:nvPr/>
        </p:nvSpPr>
        <p:spPr>
          <a:xfrm>
            <a:off x="8952411" y="306324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27A8B1EF-9862-41F9-960C-C9FA037EF221}"/>
              </a:ext>
            </a:extLst>
          </p:cNvPr>
          <p:cNvSpPr/>
          <p:nvPr/>
        </p:nvSpPr>
        <p:spPr>
          <a:xfrm>
            <a:off x="8952411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 수</a:t>
            </a:r>
            <a:endParaRPr lang="en-US" sz="1000" dirty="0"/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E8148E9A-FDC7-4310-A3F7-289434DF3048}"/>
              </a:ext>
            </a:extLst>
          </p:cNvPr>
          <p:cNvSpPr/>
          <p:nvPr/>
        </p:nvSpPr>
        <p:spPr>
          <a:xfrm>
            <a:off x="8952411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23</a:t>
            </a:r>
            <a:endParaRPr lang="en-US" sz="3600" dirty="0"/>
          </a:p>
        </p:txBody>
      </p:sp>
      <p:sp>
        <p:nvSpPr>
          <p:cNvPr id="88" name="Shape 29">
            <a:extLst>
              <a:ext uri="{FF2B5EF4-FFF2-40B4-BE49-F238E27FC236}">
                <a16:creationId xmlns:a16="http://schemas.microsoft.com/office/drawing/2014/main" id="{0765178E-63DE-47E0-91C3-1CA7D198DC6A}"/>
              </a:ext>
            </a:extLst>
          </p:cNvPr>
          <p:cNvSpPr/>
          <p:nvPr/>
        </p:nvSpPr>
        <p:spPr>
          <a:xfrm>
            <a:off x="10461171" y="306324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89" name="Text 30">
            <a:extLst>
              <a:ext uri="{FF2B5EF4-FFF2-40B4-BE49-F238E27FC236}">
                <a16:creationId xmlns:a16="http://schemas.microsoft.com/office/drawing/2014/main" id="{971F76F8-DE11-49AE-AA71-AA95006A6C82}"/>
              </a:ext>
            </a:extLst>
          </p:cNvPr>
          <p:cNvSpPr/>
          <p:nvPr/>
        </p:nvSpPr>
        <p:spPr>
          <a:xfrm>
            <a:off x="10461171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수</a:t>
            </a:r>
            <a:endParaRPr lang="en-US" sz="1000" dirty="0"/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682B7D52-BE3F-4603-A4B1-C0D011C16ABC}"/>
              </a:ext>
            </a:extLst>
          </p:cNvPr>
          <p:cNvSpPr/>
          <p:nvPr/>
        </p:nvSpPr>
        <p:spPr>
          <a:xfrm>
            <a:off x="10461171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3600" dirty="0"/>
          </a:p>
        </p:txBody>
      </p:sp>
      <p:sp>
        <p:nvSpPr>
          <p:cNvPr id="92" name="Text 5">
            <a:extLst>
              <a:ext uri="{FF2B5EF4-FFF2-40B4-BE49-F238E27FC236}">
                <a16:creationId xmlns:a16="http://schemas.microsoft.com/office/drawing/2014/main" id="{E83FB23F-53E0-45C0-8E48-1EDF088EA1EA}"/>
              </a:ext>
            </a:extLst>
          </p:cNvPr>
          <p:cNvSpPr/>
          <p:nvPr/>
        </p:nvSpPr>
        <p:spPr>
          <a:xfrm>
            <a:off x="457200" y="17830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20000" dirty="0">
              <a:solidFill>
                <a:srgbClr val="F0C040"/>
              </a:solidFill>
            </a:endParaRPr>
          </a:p>
        </p:txBody>
      </p:sp>
      <p:sp>
        <p:nvSpPr>
          <p:cNvPr id="93" name="Text 7">
            <a:extLst>
              <a:ext uri="{FF2B5EF4-FFF2-40B4-BE49-F238E27FC236}">
                <a16:creationId xmlns:a16="http://schemas.microsoft.com/office/drawing/2014/main" id="{3FBC5B94-E921-4C2D-BEAE-A7AC862260E9}"/>
              </a:ext>
            </a:extLst>
          </p:cNvPr>
          <p:cNvSpPr/>
          <p:nvPr/>
        </p:nvSpPr>
        <p:spPr>
          <a:xfrm>
            <a:off x="370114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간소화 + 집중 — 완성도 우선</a:t>
            </a:r>
            <a:endParaRPr lang="en-US" sz="1300" dirty="0"/>
          </a:p>
        </p:txBody>
      </p:sp>
      <p:sp>
        <p:nvSpPr>
          <p:cNvPr id="94" name="Text 32">
            <a:extLst>
              <a:ext uri="{FF2B5EF4-FFF2-40B4-BE49-F238E27FC236}">
                <a16:creationId xmlns:a16="http://schemas.microsoft.com/office/drawing/2014/main" id="{D3811DA3-FFDD-4380-A290-0592787F133E}"/>
              </a:ext>
            </a:extLst>
          </p:cNvPr>
          <p:cNvSpPr/>
          <p:nvPr/>
        </p:nvSpPr>
        <p:spPr>
          <a:xfrm>
            <a:off x="435429" y="4784707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SYSTEMS</a:t>
            </a:r>
            <a:endParaRPr lang="en-US" sz="1000" dirty="0"/>
          </a:p>
        </p:txBody>
      </p:sp>
      <p:sp>
        <p:nvSpPr>
          <p:cNvPr id="95" name="Text 33">
            <a:extLst>
              <a:ext uri="{FF2B5EF4-FFF2-40B4-BE49-F238E27FC236}">
                <a16:creationId xmlns:a16="http://schemas.microsoft.com/office/drawing/2014/main" id="{C1D1C66F-A391-4F00-900E-E25CA10D8A6E}"/>
              </a:ext>
            </a:extLst>
          </p:cNvPr>
          <p:cNvSpPr/>
          <p:nvPr/>
        </p:nvSpPr>
        <p:spPr>
          <a:xfrm>
            <a:off x="435429" y="5104747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전사 + 마법사 2인 고정 파티  ·  전방/후방 스왑 시스템</a:t>
            </a:r>
            <a:endParaRPr lang="en-US" sz="1600" dirty="0"/>
          </a:p>
        </p:txBody>
      </p:sp>
      <p:sp>
        <p:nvSpPr>
          <p:cNvPr id="96" name="Text 34">
            <a:extLst>
              <a:ext uri="{FF2B5EF4-FFF2-40B4-BE49-F238E27FC236}">
                <a16:creationId xmlns:a16="http://schemas.microsoft.com/office/drawing/2014/main" id="{BD79E5D4-471B-4F6A-8159-44D297D1C135}"/>
              </a:ext>
            </a:extLst>
          </p:cNvPr>
          <p:cNvSpPr/>
          <p:nvPr/>
        </p:nvSpPr>
        <p:spPr>
          <a:xfrm>
            <a:off x="435429" y="5397355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 + 합성 시스템  ·  AI 내레이션 (OpenAI + fallback)</a:t>
            </a:r>
            <a:endParaRPr lang="en-US" sz="1600" dirty="0"/>
          </a:p>
        </p:txBody>
      </p:sp>
      <p:sp>
        <p:nvSpPr>
          <p:cNvPr id="97" name="Text 35">
            <a:extLst>
              <a:ext uri="{FF2B5EF4-FFF2-40B4-BE49-F238E27FC236}">
                <a16:creationId xmlns:a16="http://schemas.microsoft.com/office/drawing/2014/main" id="{F4190202-4F26-4BE9-938B-29F1DC37F155}"/>
              </a:ext>
            </a:extLst>
          </p:cNvPr>
          <p:cNvSpPr/>
          <p:nvPr/>
        </p:nvSpPr>
        <p:spPr>
          <a:xfrm>
            <a:off x="435429" y="5689963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 (취약 / 약화 / 중독 / 화상 / 기절)  ·  공용 카드</a:t>
            </a:r>
            <a:endParaRPr lang="en-US" sz="1600" dirty="0"/>
          </a:p>
        </p:txBody>
      </p:sp>
      <p:sp>
        <p:nvSpPr>
          <p:cNvPr id="98" name="Text 36">
            <a:extLst>
              <a:ext uri="{FF2B5EF4-FFF2-40B4-BE49-F238E27FC236}">
                <a16:creationId xmlns:a16="http://schemas.microsoft.com/office/drawing/2014/main" id="{FF3EB699-0D78-475B-A63D-B4AF84525DD7}"/>
              </a:ext>
            </a:extLst>
          </p:cNvPr>
          <p:cNvSpPr/>
          <p:nvPr/>
        </p:nvSpPr>
        <p:spPr>
          <a:xfrm>
            <a:off x="435429" y="5982571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에너지: 매 턴 리셋  ·  </a:t>
            </a:r>
            <a:r>
              <a:rPr lang="en-US" sz="16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ko-KR" alt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 턴 지날 때</a:t>
            </a: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과다충전 (mp×2 상한)</a:t>
            </a:r>
            <a:endParaRPr lang="en-US" sz="1600" dirty="0"/>
          </a:p>
        </p:txBody>
      </p:sp>
      <p:sp>
        <p:nvSpPr>
          <p:cNvPr id="99" name="Text 37">
            <a:extLst>
              <a:ext uri="{FF2B5EF4-FFF2-40B4-BE49-F238E27FC236}">
                <a16:creationId xmlns:a16="http://schemas.microsoft.com/office/drawing/2014/main" id="{7FF22014-179F-49D8-A920-0314720A707A}"/>
              </a:ext>
            </a:extLst>
          </p:cNvPr>
          <p:cNvSpPr/>
          <p:nvPr/>
        </p:nvSpPr>
        <p:spPr>
          <a:xfrm>
            <a:off x="457200" y="6629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콘텐츠를 줄인 만큼 시스템의 깊이와 게임의 </a:t>
            </a:r>
            <a:r>
              <a:rPr lang="en-US" sz="1200" dirty="0" err="1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완성도를</a:t>
            </a:r>
            <a:r>
              <a:rPr lang="en-US" sz="12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높</a:t>
            </a:r>
            <a:r>
              <a:rPr lang="ko-KR" altLang="en-US" sz="12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</a:t>
            </a:r>
            <a:r>
              <a:rPr lang="en-US" sz="12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100" name="Text 2">
            <a:extLst>
              <a:ext uri="{FF2B5EF4-FFF2-40B4-BE49-F238E27FC236}">
                <a16:creationId xmlns:a16="http://schemas.microsoft.com/office/drawing/2014/main" id="{F53B953F-D8E6-4EA5-A55D-5C0702BF5179}"/>
              </a:ext>
            </a:extLst>
          </p:cNvPr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(v2)  |  30 Floors of Python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49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C0340F-100D-42B4-AB25-2BC888569B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10896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ko-KR" alt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HP 50 → 60 밸런스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3108960"/>
            <a:ext cx="54864" cy="3291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카드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 캐릭터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보유 유물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캐릭터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altLang="ko-KR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AD687C-2B4B-44A9-8072-D8A547D7CF7F}"/>
              </a:ext>
            </a:extLst>
          </p:cNvPr>
          <p:cNvSpPr/>
          <p:nvPr/>
        </p:nvSpPr>
        <p:spPr>
          <a:xfrm>
            <a:off x="-1524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126377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32918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FB2FEF5-F0EB-44CB-9026-8B6B814B591B}"/>
              </a:ext>
            </a:extLst>
          </p:cNvPr>
          <p:cNvSpPr/>
          <p:nvPr/>
        </p:nvSpPr>
        <p:spPr>
          <a:xfrm>
            <a:off x="731520" y="42976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4C27C199-6B51-4CD5-9E40-349E2FC3CC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2663" y="49064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10896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4BF53313-3C1A-4235-BE9B-C5E9B3A404A3}"/>
              </a:ext>
            </a:extLst>
          </p:cNvPr>
          <p:cNvSpPr/>
          <p:nvPr/>
        </p:nvSpPr>
        <p:spPr>
          <a:xfrm>
            <a:off x="832104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카드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 캐릭터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보유 유물 중복 등장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캐릭터 상태이상 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altLang="ko-KR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54864" cy="3291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92F4B490-3475-4564-9E73-657F33AAC55D}"/>
              </a:ext>
            </a:extLst>
          </p:cNvPr>
          <p:cNvSpPr/>
          <p:nvPr/>
        </p:nvSpPr>
        <p:spPr>
          <a:xfrm>
            <a:off x="452628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ko-KR" alt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HP 50 → 60 밸런스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DC94289-5E95-40E5-857D-16F3DC46FCEC}"/>
              </a:ext>
            </a:extLst>
          </p:cNvPr>
          <p:cNvSpPr/>
          <p:nvPr/>
        </p:nvSpPr>
        <p:spPr>
          <a:xfrm>
            <a:off x="-15240" y="17490"/>
            <a:ext cx="12192000" cy="6858000"/>
          </a:xfrm>
          <a:prstGeom prst="rect">
            <a:avLst/>
          </a:prstGeom>
          <a:gradFill>
            <a:gsLst>
              <a:gs pos="3000">
                <a:schemeClr val="accent1">
                  <a:alpha val="49000"/>
                  <a:lumMod val="29000"/>
                </a:schemeClr>
              </a:gs>
              <a:gs pos="47000">
                <a:schemeClr val="accent1">
                  <a:alpha val="44000"/>
                  <a:lumMod val="50000"/>
                </a:schemeClr>
              </a:gs>
              <a:gs pos="100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Shape 26"/>
          <p:cNvSpPr/>
          <p:nvPr/>
        </p:nvSpPr>
        <p:spPr>
          <a:xfrm>
            <a:off x="3128870" y="1691640"/>
            <a:ext cx="5943600" cy="4572000"/>
          </a:xfrm>
          <a:prstGeom prst="rect">
            <a:avLst/>
          </a:prstGeom>
          <a:solidFill>
            <a:srgbClr val="161B22"/>
          </a:solidFill>
          <a:ln w="25400">
            <a:solidFill>
              <a:srgbClr val="C084FC"/>
            </a:solidFill>
            <a:prstDash val="solid"/>
          </a:ln>
          <a:effectLst>
            <a:outerShdw blurRad="381000" dist="1016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91640"/>
            <a:ext cx="91440" cy="457200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66160" y="2423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3566160" y="3200400"/>
            <a:ext cx="5029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3832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파티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C0340F-100D-42B4-AB25-2BC888569B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3108960"/>
            <a:ext cx="54864" cy="3291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카드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 캐릭터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보유 유물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캐릭터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1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AD687C-2B4B-44A9-8072-D8A547D7CF7F}"/>
              </a:ext>
            </a:extLst>
          </p:cNvPr>
          <p:cNvSpPr/>
          <p:nvPr/>
        </p:nvSpPr>
        <p:spPr>
          <a:xfrm>
            <a:off x="-1524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10896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ko-KR" alt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HP 50 → 60 밸런스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26377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32918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FB2FEF5-F0EB-44CB-9026-8B6B814B591B}"/>
              </a:ext>
            </a:extLst>
          </p:cNvPr>
          <p:cNvSpPr/>
          <p:nvPr/>
        </p:nvSpPr>
        <p:spPr>
          <a:xfrm>
            <a:off x="731520" y="42976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07534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200">
        <p159:morph option="byObject"/>
      </p:transition>
    </mc:Choice>
    <mc:Fallback xmlns="">
      <p:transition spd="med" advClick="0" advTm="2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95E410-5F5F-4BF6-A079-005E21318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32918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9E90B3EC-85FC-4DBE-9197-D15A1A7A6E32}"/>
              </a:ext>
            </a:extLst>
          </p:cNvPr>
          <p:cNvSpPr/>
          <p:nvPr/>
        </p:nvSpPr>
        <p:spPr>
          <a:xfrm>
            <a:off x="731520" y="42976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14BD568D-0841-4D47-A2E9-DB890514772A}"/>
              </a:ext>
            </a:extLst>
          </p:cNvPr>
          <p:cNvSpPr/>
          <p:nvPr/>
        </p:nvSpPr>
        <p:spPr>
          <a:xfrm>
            <a:off x="832104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1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54864" cy="3291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092E7B4-D8E7-4F69-A835-DBC5A2B85C1C}"/>
              </a:ext>
            </a:extLst>
          </p:cNvPr>
          <p:cNvSpPr/>
          <p:nvPr/>
        </p:nvSpPr>
        <p:spPr>
          <a:xfrm>
            <a:off x="0" y="4156"/>
            <a:ext cx="12192000" cy="6858000"/>
          </a:xfrm>
          <a:prstGeom prst="rect">
            <a:avLst/>
          </a:prstGeom>
          <a:gradFill>
            <a:gsLst>
              <a:gs pos="3000">
                <a:schemeClr val="accent1">
                  <a:alpha val="49000"/>
                  <a:lumMod val="29000"/>
                </a:schemeClr>
              </a:gs>
              <a:gs pos="47000">
                <a:schemeClr val="accent1">
                  <a:alpha val="44000"/>
                  <a:lumMod val="50000"/>
                </a:schemeClr>
              </a:gs>
              <a:gs pos="100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108960" y="1691640"/>
            <a:ext cx="5943600" cy="4572000"/>
          </a:xfrm>
          <a:prstGeom prst="rect">
            <a:avLst/>
          </a:prstGeom>
          <a:solidFill>
            <a:srgbClr val="161B22"/>
          </a:solidFill>
          <a:ln w="25400">
            <a:solidFill>
              <a:srgbClr val="60A5FA"/>
            </a:solidFill>
            <a:prstDash val="solid"/>
          </a:ln>
          <a:effectLst>
            <a:outerShdw blurRad="381000" dist="1016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91640"/>
            <a:ext cx="91440" cy="45720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66160" y="2423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3566160" y="3200400"/>
            <a:ext cx="5029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3832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 SPD </a:t>
            </a:r>
            <a:r>
              <a:rPr lang="ko-KR" alt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 HP 50 → 60 밸런스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C0340F-100D-42B4-AB25-2BC888569B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AD687C-2B4B-44A9-8072-D8A547D7CF7F}"/>
              </a:ext>
            </a:extLst>
          </p:cNvPr>
          <p:cNvSpPr/>
          <p:nvPr/>
        </p:nvSpPr>
        <p:spPr>
          <a:xfrm>
            <a:off x="-1524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126377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32918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FB2FEF5-F0EB-44CB-9026-8B6B814B591B}"/>
              </a:ext>
            </a:extLst>
          </p:cNvPr>
          <p:cNvSpPr/>
          <p:nvPr/>
        </p:nvSpPr>
        <p:spPr>
          <a:xfrm>
            <a:off x="731520" y="42976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10896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ko-KR" alt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HP 50 → 60 밸런스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3108960"/>
            <a:ext cx="54864" cy="3291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1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030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200">
        <p159:morph option="byObject"/>
      </p:transition>
    </mc:Choice>
    <mc:Fallback xmlns="">
      <p:transition spd="med" advClick="0" advTm="2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4ABF5819-C33B-423A-8DB7-27758180CD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32918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5D1C3A9D-3958-43FC-9A80-0E03D3866A1C}"/>
              </a:ext>
            </a:extLst>
          </p:cNvPr>
          <p:cNvSpPr/>
          <p:nvPr/>
        </p:nvSpPr>
        <p:spPr>
          <a:xfrm>
            <a:off x="731520" y="42976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10896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4E3E8A3E-655F-44E5-AAE5-A69AE6B703B2}"/>
              </a:ext>
            </a:extLst>
          </p:cNvPr>
          <p:cNvSpPr/>
          <p:nvPr/>
        </p:nvSpPr>
        <p:spPr>
          <a:xfrm>
            <a:off x="452628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ko-KR" alt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HP 50 → 60 밸런스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D130CB0-99A9-4B2C-9678-EB91B12DDB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000">
                <a:schemeClr val="accent1">
                  <a:alpha val="49000"/>
                  <a:lumMod val="29000"/>
                </a:schemeClr>
              </a:gs>
              <a:gs pos="47000">
                <a:schemeClr val="accent1">
                  <a:alpha val="44000"/>
                  <a:lumMod val="50000"/>
                </a:schemeClr>
              </a:gs>
              <a:gs pos="100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108960" y="1691640"/>
            <a:ext cx="5943600" cy="4572000"/>
          </a:xfrm>
          <a:prstGeom prst="rect">
            <a:avLst/>
          </a:prstGeom>
          <a:solidFill>
            <a:srgbClr val="161B22"/>
          </a:solidFill>
          <a:ln w="25400">
            <a:solidFill>
              <a:srgbClr val="F87171"/>
            </a:solidFill>
            <a:prstDash val="solid"/>
          </a:ln>
          <a:effectLst>
            <a:outerShdw blurRad="381000" dist="1016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91640"/>
            <a:ext cx="91440" cy="45720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66160" y="2423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3566160" y="3200400"/>
            <a:ext cx="5029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2708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altLang="ko-KR" sz="24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altLang="ko-KR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24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altLang="ko-KR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24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altLang="ko-KR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24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altLang="ko-KR" sz="2400" dirty="0"/>
          </a:p>
          <a:p>
            <a:pPr marL="0" indent="0">
              <a:spcAft>
                <a:spcPts val="600"/>
              </a:spcAft>
              <a:buNone/>
            </a:pPr>
            <a:endParaRPr lang="en-US" altLang="ko-KR" sz="18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altLang="ko-KR" sz="24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E0BCBCC9-6876-43C7-9FC2-624C789DAC01}"/>
              </a:ext>
            </a:extLst>
          </p:cNvPr>
          <p:cNvSpPr/>
          <p:nvPr/>
        </p:nvSpPr>
        <p:spPr>
          <a:xfrm>
            <a:off x="0" y="-81234"/>
            <a:ext cx="12192000" cy="6939233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플레이 흐름  |  한 층의 사이클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GAMEPLAY LOOP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30층까지 반복되는 한 층의 흐름</a:t>
            </a:r>
            <a:endParaRPr lang="en-US" sz="24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DCB3AC76-D295-423B-8E7B-A57514D2D069}"/>
              </a:ext>
            </a:extLst>
          </p:cNvPr>
          <p:cNvGrpSpPr/>
          <p:nvPr/>
        </p:nvGrpSpPr>
        <p:grpSpPr>
          <a:xfrm>
            <a:off x="259080" y="2508070"/>
            <a:ext cx="1676400" cy="2207620"/>
            <a:chOff x="274320" y="2880360"/>
            <a:chExt cx="1645920" cy="1463040"/>
          </a:xfrm>
        </p:grpSpPr>
        <p:sp>
          <p:nvSpPr>
            <p:cNvPr id="9" name="Shape 7"/>
            <p:cNvSpPr/>
            <p:nvPr/>
          </p:nvSpPr>
          <p:spPr>
            <a:xfrm>
              <a:off x="274320" y="2880360"/>
              <a:ext cx="1645920" cy="1463040"/>
            </a:xfrm>
            <a:prstGeom prst="rect">
              <a:avLst/>
            </a:prstGeom>
            <a:solidFill>
              <a:srgbClr val="161B22"/>
            </a:solidFill>
            <a:ln w="19050">
              <a:solidFill>
                <a:srgbClr val="E6EDF3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274320" y="2880360"/>
              <a:ext cx="1645920" cy="45720"/>
            </a:xfrm>
            <a:prstGeom prst="rect">
              <a:avLst/>
            </a:prstGeom>
            <a:solidFill>
              <a:srgbClr val="E6EDF3"/>
            </a:solidFill>
            <a:ln/>
          </p:spPr>
        </p:sp>
      </p:grpSp>
      <p:sp>
        <p:nvSpPr>
          <p:cNvPr id="11" name="Text 9"/>
          <p:cNvSpPr/>
          <p:nvPr/>
        </p:nvSpPr>
        <p:spPr>
          <a:xfrm>
            <a:off x="-76200" y="2842601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🚪 층 입구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1297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Floor N 진입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347767"/>
            <a:ext cx="1371600" cy="81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상세정보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진입 (Enter)</a:t>
            </a:r>
            <a:endParaRPr lang="en-US" sz="12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75373CB-E68F-4C0A-BA54-12457CAA1F86}"/>
              </a:ext>
            </a:extLst>
          </p:cNvPr>
          <p:cNvGrpSpPr/>
          <p:nvPr/>
        </p:nvGrpSpPr>
        <p:grpSpPr>
          <a:xfrm>
            <a:off x="2194560" y="2514599"/>
            <a:ext cx="2011680" cy="2194562"/>
            <a:chOff x="2286000" y="2880360"/>
            <a:chExt cx="1828800" cy="1463040"/>
          </a:xfrm>
        </p:grpSpPr>
        <p:sp>
          <p:nvSpPr>
            <p:cNvPr id="14" name="Shape 12"/>
            <p:cNvSpPr/>
            <p:nvPr/>
          </p:nvSpPr>
          <p:spPr>
            <a:xfrm>
              <a:off x="2286000" y="2880360"/>
              <a:ext cx="1828800" cy="1463040"/>
            </a:xfrm>
            <a:prstGeom prst="rect">
              <a:avLst/>
            </a:prstGeom>
            <a:solidFill>
              <a:srgbClr val="161B22"/>
            </a:solidFill>
            <a:ln w="19050">
              <a:solidFill>
                <a:srgbClr val="F0C040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2286000" y="2880360"/>
              <a:ext cx="1828800" cy="45720"/>
            </a:xfrm>
            <a:prstGeom prst="rect">
              <a:avLst/>
            </a:prstGeom>
            <a:solidFill>
              <a:srgbClr val="F0C040"/>
            </a:solidFill>
            <a:ln/>
          </p:spPr>
        </p:sp>
      </p:grpSp>
      <p:sp>
        <p:nvSpPr>
          <p:cNvPr id="16" name="Text 14"/>
          <p:cNvSpPr/>
          <p:nvPr/>
        </p:nvSpPr>
        <p:spPr>
          <a:xfrm>
            <a:off x="2008632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🎲 이벤트 결정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6000" y="309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generate_floor_event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335837"/>
            <a:ext cx="1554480" cy="107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en-US" altLang="ko-KR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altLang="ko-KR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(23%,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실행</a:t>
            </a:r>
            <a:r>
              <a:rPr lang="en-US" altLang="ko-KR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2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전투 (75%)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사건 (25%)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보스 (15·30층)</a:t>
            </a:r>
            <a:endParaRPr lang="en-US" sz="1200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EFFA8BD-2FA1-4568-A10B-553DEF2DFF2E}"/>
              </a:ext>
            </a:extLst>
          </p:cNvPr>
          <p:cNvGrpSpPr/>
          <p:nvPr/>
        </p:nvGrpSpPr>
        <p:grpSpPr>
          <a:xfrm>
            <a:off x="8229600" y="2487168"/>
            <a:ext cx="1828800" cy="2228521"/>
            <a:chOff x="8229600" y="2880360"/>
            <a:chExt cx="1828800" cy="1463040"/>
          </a:xfrm>
        </p:grpSpPr>
        <p:sp>
          <p:nvSpPr>
            <p:cNvPr id="22" name="Shape 20"/>
            <p:cNvSpPr/>
            <p:nvPr/>
          </p:nvSpPr>
          <p:spPr>
            <a:xfrm>
              <a:off x="8229600" y="2880360"/>
              <a:ext cx="1828800" cy="1463040"/>
            </a:xfrm>
            <a:prstGeom prst="rect">
              <a:avLst/>
            </a:prstGeom>
            <a:solidFill>
              <a:srgbClr val="161B22"/>
            </a:solidFill>
            <a:ln w="19050">
              <a:solidFill>
                <a:srgbClr val="34D399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8229600" y="2880360"/>
              <a:ext cx="1828800" cy="45720"/>
            </a:xfrm>
            <a:prstGeom prst="rect">
              <a:avLst/>
            </a:prstGeom>
            <a:solidFill>
              <a:srgbClr val="34D399"/>
            </a:solidFill>
            <a:ln/>
          </p:spPr>
        </p:sp>
      </p:grpSp>
      <p:sp>
        <p:nvSpPr>
          <p:cNvPr id="24" name="Text 22"/>
          <p:cNvSpPr/>
          <p:nvPr/>
        </p:nvSpPr>
        <p:spPr>
          <a:xfrm>
            <a:off x="7680960" y="2776131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💰 보상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304392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r>
              <a:rPr lang="en-US" sz="1000" dirty="0" err="1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victory_sequence</a:t>
            </a: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r>
              <a:rPr lang="en-US" sz="1000" dirty="0" err="1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card_reward_sequence</a:t>
            </a: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</a:t>
            </a:r>
          </a:p>
        </p:txBody>
      </p:sp>
      <p:sp>
        <p:nvSpPr>
          <p:cNvPr id="26" name="Text 24"/>
          <p:cNvSpPr/>
          <p:nvPr/>
        </p:nvSpPr>
        <p:spPr>
          <a:xfrm>
            <a:off x="8302752" y="3549255"/>
            <a:ext cx="1554480" cy="873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골드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1200" dirty="0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85A1DF1-3D19-4D95-9185-7F2DCB623F2D}"/>
              </a:ext>
            </a:extLst>
          </p:cNvPr>
          <p:cNvGrpSpPr/>
          <p:nvPr/>
        </p:nvGrpSpPr>
        <p:grpSpPr>
          <a:xfrm>
            <a:off x="10424160" y="2487168"/>
            <a:ext cx="1463040" cy="2228522"/>
            <a:chOff x="10424160" y="2880360"/>
            <a:chExt cx="1463040" cy="1463040"/>
          </a:xfrm>
        </p:grpSpPr>
        <p:sp>
          <p:nvSpPr>
            <p:cNvPr id="27" name="Shape 25"/>
            <p:cNvSpPr/>
            <p:nvPr/>
          </p:nvSpPr>
          <p:spPr>
            <a:xfrm>
              <a:off x="10424160" y="2880360"/>
              <a:ext cx="1463040" cy="1463040"/>
            </a:xfrm>
            <a:prstGeom prst="rect">
              <a:avLst/>
            </a:prstGeom>
            <a:solidFill>
              <a:srgbClr val="161B22"/>
            </a:solidFill>
            <a:ln w="19050">
              <a:solidFill>
                <a:srgbClr val="F0C040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10424160" y="2880360"/>
              <a:ext cx="1463040" cy="45720"/>
            </a:xfrm>
            <a:prstGeom prst="rect">
              <a:avLst/>
            </a:prstGeom>
            <a:solidFill>
              <a:srgbClr val="F0C040"/>
            </a:solidFill>
            <a:ln/>
          </p:spPr>
        </p:sp>
      </p:grpSp>
      <p:sp>
        <p:nvSpPr>
          <p:cNvPr id="29" name="Text 27"/>
          <p:cNvSpPr/>
          <p:nvPr/>
        </p:nvSpPr>
        <p:spPr>
          <a:xfrm>
            <a:off x="10226040" y="2776131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⬆ 다음 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24160" y="304392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floor +=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78737" y="3249055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30층 클리어 시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승리!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flipV="1">
            <a:off x="1959429" y="3611878"/>
            <a:ext cx="216844" cy="2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4241944" y="3611878"/>
            <a:ext cx="302623" cy="1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808105" y="3611880"/>
            <a:ext cx="399724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080170" y="3611879"/>
            <a:ext cx="328749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2508070"/>
            <a:ext cx="3200400" cy="22076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508070"/>
            <a:ext cx="3200400" cy="6898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6" name="Shape 34"/>
          <p:cNvSpPr/>
          <p:nvPr/>
        </p:nvSpPr>
        <p:spPr>
          <a:xfrm>
            <a:off x="4617720" y="2715034"/>
            <a:ext cx="975360" cy="1793691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50080" y="2784023"/>
            <a:ext cx="975360" cy="482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⚔ </a:t>
            </a:r>
            <a:r>
              <a:rPr lang="en-US" sz="1600" b="1" dirty="0">
                <a:solidFill>
                  <a:srgbClr val="F87171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전투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90872" y="3155743"/>
            <a:ext cx="829056" cy="110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사용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 전략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84520" y="2715034"/>
            <a:ext cx="975360" cy="1793691"/>
          </a:xfrm>
          <a:prstGeom prst="rect">
            <a:avLst/>
          </a:prstGeom>
          <a:solidFill>
            <a:srgbClr val="0D111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9928" y="2784023"/>
            <a:ext cx="975360" cy="482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🛒 </a:t>
            </a:r>
            <a:r>
              <a:rPr lang="en-US" sz="1600" b="1" dirty="0">
                <a:solidFill>
                  <a:srgbClr val="60A5FA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상점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57672" y="3150249"/>
            <a:ext cx="829056" cy="110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 구매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 합성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HP 회복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51320" y="2715034"/>
            <a:ext cx="975360" cy="1793691"/>
          </a:xfrm>
          <a:prstGeom prst="rect">
            <a:avLst/>
          </a:prstGeom>
          <a:solidFill>
            <a:srgbClr val="0D1117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9588" y="2784023"/>
            <a:ext cx="975360" cy="482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84F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🌀 </a:t>
            </a:r>
            <a:r>
              <a:rPr lang="en-US" sz="1600" b="1" dirty="0" err="1">
                <a:solidFill>
                  <a:srgbClr val="C084F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사건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24472" y="3155743"/>
            <a:ext cx="829056" cy="110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선택지 2~3개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확률 효과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묘사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75488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25718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MECHANICS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856232" y="55992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카드 덱빌딩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856232" y="58918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승리 보상 + 사건 획득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덱 최대 15장, 공용 카드 4종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4690872" y="55992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유물 + 합성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90872" y="58918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최대 4개, 자동 </a:t>
            </a:r>
            <a:r>
              <a:rPr lang="en-US" sz="1600" dirty="0" err="1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</a:t>
            </a: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감지</a:t>
            </a:r>
            <a:endParaRPr lang="en-US" sz="1600" dirty="0">
              <a:solidFill>
                <a:schemeClr val="bg1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합성되면 능력치가 더 </a:t>
            </a:r>
            <a:r>
              <a:rPr lang="ko-KR" altLang="en-US" sz="1600" dirty="0" err="1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강해짐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7525512" y="55992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949E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AI 내레이션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25512" y="58918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OpenAI로 실시간 묘사 생성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없으면 fallback </a:t>
            </a:r>
            <a:r>
              <a:rPr lang="ko-KR" alt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 출력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4" name="Text 9">
            <a:extLst>
              <a:ext uri="{FF2B5EF4-FFF2-40B4-BE49-F238E27FC236}">
                <a16:creationId xmlns:a16="http://schemas.microsoft.com/office/drawing/2014/main" id="{D34EFBE6-B4C3-4887-BF87-3F0376C1E0A4}"/>
              </a:ext>
            </a:extLst>
          </p:cNvPr>
          <p:cNvSpPr/>
          <p:nvPr/>
        </p:nvSpPr>
        <p:spPr>
          <a:xfrm>
            <a:off x="347472" y="2627593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700" dirty="0"/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B362232E-F1A4-4E4C-ACE1-C2C166545DCD}"/>
              </a:ext>
            </a:extLst>
          </p:cNvPr>
          <p:cNvSpPr/>
          <p:nvPr/>
        </p:nvSpPr>
        <p:spPr>
          <a:xfrm>
            <a:off x="2359152" y="2627593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70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8CB2DAF5-4E8F-40AA-BBF9-1FA71C5CC560}"/>
              </a:ext>
            </a:extLst>
          </p:cNvPr>
          <p:cNvSpPr/>
          <p:nvPr/>
        </p:nvSpPr>
        <p:spPr>
          <a:xfrm>
            <a:off x="8302752" y="2627593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combat.py</a:t>
            </a:r>
            <a:endParaRPr lang="en-US" sz="700" dirty="0"/>
          </a:p>
        </p:txBody>
      </p:sp>
      <p:sp>
        <p:nvSpPr>
          <p:cNvPr id="77" name="Text 30">
            <a:extLst>
              <a:ext uri="{FF2B5EF4-FFF2-40B4-BE49-F238E27FC236}">
                <a16:creationId xmlns:a16="http://schemas.microsoft.com/office/drawing/2014/main" id="{5A114AC0-0C29-4A47-BC5B-D4015EC6F4FF}"/>
              </a:ext>
            </a:extLst>
          </p:cNvPr>
          <p:cNvSpPr/>
          <p:nvPr/>
        </p:nvSpPr>
        <p:spPr>
          <a:xfrm>
            <a:off x="10497312" y="2627593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70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5009817E-996D-4782-A061-E0D3646D10F1}"/>
              </a:ext>
            </a:extLst>
          </p:cNvPr>
          <p:cNvSpPr/>
          <p:nvPr/>
        </p:nvSpPr>
        <p:spPr>
          <a:xfrm>
            <a:off x="4663440" y="2719033"/>
            <a:ext cx="88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combat.py</a:t>
            </a:r>
            <a:endParaRPr lang="en-US" sz="600" dirty="0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3C95F9CE-1615-4C8B-98AD-0786C0D4783D}"/>
              </a:ext>
            </a:extLst>
          </p:cNvPr>
          <p:cNvSpPr/>
          <p:nvPr/>
        </p:nvSpPr>
        <p:spPr>
          <a:xfrm>
            <a:off x="5730240" y="2719033"/>
            <a:ext cx="88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600" dirty="0"/>
          </a:p>
        </p:txBody>
      </p:sp>
      <p:sp>
        <p:nvSpPr>
          <p:cNvPr id="80" name="Text 49">
            <a:extLst>
              <a:ext uri="{FF2B5EF4-FFF2-40B4-BE49-F238E27FC236}">
                <a16:creationId xmlns:a16="http://schemas.microsoft.com/office/drawing/2014/main" id="{4BD036BB-140F-4AC4-A7BA-746A26372536}"/>
              </a:ext>
            </a:extLst>
          </p:cNvPr>
          <p:cNvSpPr/>
          <p:nvPr/>
        </p:nvSpPr>
        <p:spPr>
          <a:xfrm>
            <a:off x="6797040" y="2719033"/>
            <a:ext cx="88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직사각형 76">
            <a:extLst>
              <a:ext uri="{FF2B5EF4-FFF2-40B4-BE49-F238E27FC236}">
                <a16:creationId xmlns:a16="http://schemas.microsoft.com/office/drawing/2014/main" id="{5329F3C6-2711-4F24-971E-CBF010A0AD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 |  파일 구조 &amp; 설계 원칙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 파일의 단방향 의존성 구조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329642" y="2614352"/>
            <a:ext cx="2926080" cy="548640"/>
          </a:xfrm>
          <a:prstGeom prst="rect">
            <a:avLst/>
          </a:prstGeom>
          <a:solidFill>
            <a:srgbClr val="1A1200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29642" y="2614352"/>
            <a:ext cx="45720" cy="54864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11" name="Text 9"/>
          <p:cNvSpPr/>
          <p:nvPr/>
        </p:nvSpPr>
        <p:spPr>
          <a:xfrm>
            <a:off x="2466802" y="2650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7401" y="2907506"/>
            <a:ext cx="265176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시작 · 30층 루프 · 입력 처리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061162" y="3162992"/>
            <a:ext cx="0" cy="320040"/>
          </a:xfrm>
          <a:prstGeom prst="line">
            <a:avLst/>
          </a:prstGeom>
          <a:noFill/>
          <a:ln w="25400">
            <a:solidFill>
              <a:srgbClr val="F1C04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170891" y="3251811"/>
            <a:ext cx="804672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world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7082" y="3162992"/>
            <a:ext cx="0" cy="320040"/>
          </a:xfrm>
          <a:prstGeom prst="line">
            <a:avLst/>
          </a:prstGeom>
          <a:noFill/>
          <a:ln w="25400">
            <a:solidFill>
              <a:srgbClr val="F2C04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816811" y="3254432"/>
            <a:ext cx="981646" cy="142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visuals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5162" y="3483032"/>
            <a:ext cx="3017520" cy="548640"/>
          </a:xfrm>
          <a:prstGeom prst="rect">
            <a:avLst/>
          </a:prstGeom>
          <a:solidFill>
            <a:srgbClr val="001328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162" y="3483032"/>
            <a:ext cx="45720" cy="5486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912322" y="3519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2921" y="3776186"/>
            <a:ext cx="2743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 이벤트 · 상점 · 사건 · AI 호출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067002" y="3483032"/>
            <a:ext cx="2560320" cy="548640"/>
          </a:xfrm>
          <a:prstGeom prst="rect">
            <a:avLst/>
          </a:prstGeom>
          <a:solidFill>
            <a:srgbClr val="00101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7002" y="3483032"/>
            <a:ext cx="4572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204162" y="3519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visuals.py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14761" y="3776186"/>
            <a:ext cx="22860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출력 · 헤더 표시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689562" y="4031672"/>
            <a:ext cx="0" cy="32004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799290" y="4129219"/>
            <a:ext cx="98755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combat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21927" y="4031672"/>
            <a:ext cx="0" cy="205740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740420" y="4091108"/>
            <a:ext cx="1139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ai_manager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2282" y="4351712"/>
            <a:ext cx="2926080" cy="54864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2282" y="4351712"/>
            <a:ext cx="45720" cy="5486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1" name="Text 29"/>
          <p:cNvSpPr/>
          <p:nvPr/>
        </p:nvSpPr>
        <p:spPr>
          <a:xfrm>
            <a:off x="729442" y="4388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combat.py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041" y="4644866"/>
            <a:ext cx="265176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진행 · 카드 효과 · 상태이상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792682" y="4351712"/>
            <a:ext cx="2926080" cy="548640"/>
          </a:xfrm>
          <a:prstGeom prst="rect">
            <a:avLst/>
          </a:prstGeom>
          <a:solidFill>
            <a:srgbClr val="12001F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2682" y="4351712"/>
            <a:ext cx="45720" cy="5486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5" name="Text 33"/>
          <p:cNvSpPr/>
          <p:nvPr/>
        </p:nvSpPr>
        <p:spPr>
          <a:xfrm>
            <a:off x="3929842" y="4388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player.py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40441" y="4644866"/>
            <a:ext cx="265176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 · 에너지 · 덱 · 유물 합성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518362" y="4845792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10533" y="4955717"/>
            <a:ext cx="1100810" cy="19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player</a:t>
            </a:r>
            <a:endParaRPr lang="en-US" sz="900" dirty="0">
              <a:solidFill>
                <a:schemeClr val="accent4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872442" y="4900352"/>
            <a:ext cx="0" cy="32004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982171" y="4936928"/>
            <a:ext cx="98082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assets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5722" y="4900352"/>
            <a:ext cx="0" cy="32004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365450" y="4989171"/>
            <a:ext cx="104387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assets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232362" y="5220392"/>
            <a:ext cx="5303520" cy="594360"/>
          </a:xfrm>
          <a:prstGeom prst="rect">
            <a:avLst/>
          </a:prstGeom>
          <a:solidFill>
            <a:srgbClr val="001A0F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32362" y="5220392"/>
            <a:ext cx="4572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1369522" y="5256968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assets.py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380121" y="5545550"/>
            <a:ext cx="5029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2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2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2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ko-KR" altLang="en-US" sz="1200" kern="0" spc="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ko-KR" alt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딕셔너리로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저장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75162" y="5997632"/>
            <a:ext cx="6400800" cy="0"/>
          </a:xfrm>
          <a:prstGeom prst="lin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598122" y="6089072"/>
            <a:ext cx="4572000" cy="548640"/>
          </a:xfrm>
          <a:prstGeom prst="rect">
            <a:avLst/>
          </a:prstGeom>
          <a:solidFill>
            <a:srgbClr val="111111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98122" y="6089072"/>
            <a:ext cx="45720" cy="54864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50" name="Text 48"/>
          <p:cNvSpPr/>
          <p:nvPr/>
        </p:nvSpPr>
        <p:spPr>
          <a:xfrm>
            <a:off x="1735282" y="6125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ai_manager.py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745881" y="6382226"/>
            <a:ext cx="429768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내레이션 · API 없으면 미리 쓴 대사로 자동 전환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6254289" y="6217920"/>
            <a:ext cx="1106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없어도 게임 정상 작동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-165839" y="2715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-165839" y="3584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세계/UI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-165839" y="4453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전투/상태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-165839" y="53218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-165839" y="61904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7498080" y="2258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98080" y="26243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98080" y="2624328"/>
            <a:ext cx="45720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1" name="Text 59"/>
          <p:cNvSpPr/>
          <p:nvPr/>
        </p:nvSpPr>
        <p:spPr>
          <a:xfrm>
            <a:off x="7607449" y="26378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7963800" y="27032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데이터</a:t>
            </a:r>
            <a:r>
              <a:rPr 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 </a:t>
            </a:r>
            <a:r>
              <a:rPr lang="ko-KR" alt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수정이 편한 </a:t>
            </a:r>
            <a:r>
              <a:rPr lang="en-US" sz="1400" b="1" dirty="0" err="1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설계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677227" y="2994016"/>
            <a:ext cx="4160521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콘텐츠(카드, 몬스터, 유물)를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코드가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아닌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딕셔너리로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새 몬스터를 추가할 때 코드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줄만 추가하면 됨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7595951" y="3615525"/>
            <a:ext cx="3210882" cy="20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 = { '강타': {cost:1, damage:1.5} }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498080" y="39959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98080" y="3995928"/>
            <a:ext cx="45720" cy="1280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7" name="Text 65"/>
          <p:cNvSpPr/>
          <p:nvPr/>
        </p:nvSpPr>
        <p:spPr>
          <a:xfrm>
            <a:off x="7607449" y="40094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7963800" y="40748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위에서 아래로만 불러오기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7677227" y="4362710"/>
            <a:ext cx="3929842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import는 항상 위 →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파일이 위를 부르지 않음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파일끼리 서로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엉키지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않아서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독립적으로 수정 가능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7595951" y="4971713"/>
            <a:ext cx="2186050" cy="20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world  # </a:t>
            </a:r>
            <a:r>
              <a:rPr lang="en-US" sz="1100" dirty="0" err="1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main→world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498080" y="53675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98080" y="5367528"/>
            <a:ext cx="45720" cy="128016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73" name="Text 71"/>
          <p:cNvSpPr/>
          <p:nvPr/>
        </p:nvSpPr>
        <p:spPr>
          <a:xfrm>
            <a:off x="7607449" y="53810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84F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7963800" y="54464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없어도 되는 건 죽여도 안 죽게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7677227" y="5728168"/>
            <a:ext cx="4023360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없어도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</a:rPr>
              <a:t>,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써둔 대사로 전환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try/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except로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에러가 나면 미리 </a:t>
            </a:r>
            <a:r>
              <a:rPr lang="ko-KR" alt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써둔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대사로 변경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6" name="Text 74"/>
          <p:cNvSpPr/>
          <p:nvPr/>
        </p:nvSpPr>
        <p:spPr>
          <a:xfrm>
            <a:off x="7595951" y="6323318"/>
            <a:ext cx="4595686" cy="20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_call_api(prompt) or _fallback(</a:t>
            </a:r>
            <a:r>
              <a:rPr lang="ko-KR" alt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대사</a:t>
            </a:r>
            <a:r>
              <a:rPr lang="en-US" altLang="ko-KR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378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직사각형 76">
            <a:extLst>
              <a:ext uri="{FF2B5EF4-FFF2-40B4-BE49-F238E27FC236}">
                <a16:creationId xmlns:a16="http://schemas.microsoft.com/office/drawing/2014/main" id="{5329F3C6-2711-4F24-971E-CBF010A0AD78}"/>
              </a:ext>
            </a:extLst>
          </p:cNvPr>
          <p:cNvSpPr/>
          <p:nvPr/>
        </p:nvSpPr>
        <p:spPr>
          <a:xfrm>
            <a:off x="0" y="-115868"/>
            <a:ext cx="12192000" cy="697772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3" name="Shape 25">
            <a:extLst>
              <a:ext uri="{FF2B5EF4-FFF2-40B4-BE49-F238E27FC236}">
                <a16:creationId xmlns:a16="http://schemas.microsoft.com/office/drawing/2014/main" id="{6107285A-A0ED-4339-BB65-170952117C42}"/>
              </a:ext>
            </a:extLst>
          </p:cNvPr>
          <p:cNvSpPr/>
          <p:nvPr/>
        </p:nvSpPr>
        <p:spPr>
          <a:xfrm>
            <a:off x="5488836" y="2910077"/>
            <a:ext cx="0" cy="3006087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" name="Text 0"/>
          <p:cNvSpPr/>
          <p:nvPr/>
        </p:nvSpPr>
        <p:spPr>
          <a:xfrm>
            <a:off x="457200" y="-268407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-245547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-208971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 |  파일 구조 &amp; 설계 원칙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-259263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-149535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-12667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7602" y="-1079929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 파일의 단방향 의존성 구조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-165840" y="570566"/>
            <a:ext cx="1420297" cy="5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-33088" y="2184274"/>
            <a:ext cx="1420297" cy="5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세계/UI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-77463" y="3561508"/>
            <a:ext cx="1420297" cy="5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전투/상태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-165840" y="4820462"/>
            <a:ext cx="1420297" cy="5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-165840" y="5974462"/>
            <a:ext cx="1420297" cy="5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13499869" y="2258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3499869" y="26243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499869" y="2624328"/>
            <a:ext cx="45720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1" name="Text 59"/>
          <p:cNvSpPr/>
          <p:nvPr/>
        </p:nvSpPr>
        <p:spPr>
          <a:xfrm>
            <a:off x="13609238" y="26378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3965589" y="27032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데이터</a:t>
            </a:r>
            <a:r>
              <a:rPr 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 </a:t>
            </a:r>
            <a:r>
              <a:rPr lang="ko-KR" alt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수정이 편한 </a:t>
            </a:r>
            <a:r>
              <a:rPr lang="en-US" sz="1400" b="1" dirty="0" err="1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설계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3679016" y="2994016"/>
            <a:ext cx="4160521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콘텐츠(카드, 몬스터, 유물)를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코드가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아닌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딕셔너리로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새 몬스터를 추가할 때 코드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줄만 추가하면 됨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13597740" y="3615525"/>
            <a:ext cx="3210882" cy="20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 = { '강타': {cost:1, damage:1.5} }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3499869" y="39959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499869" y="3995928"/>
            <a:ext cx="45720" cy="1280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7" name="Text 65"/>
          <p:cNvSpPr/>
          <p:nvPr/>
        </p:nvSpPr>
        <p:spPr>
          <a:xfrm>
            <a:off x="13609238" y="40094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60A5F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3965589" y="40748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위에서 아래로만 불러오기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3679016" y="4362710"/>
            <a:ext cx="3929842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import는 항상 위 → 아래 방향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파일이 위를 부르지 않음</a:t>
            </a:r>
            <a:endParaRPr lang="en-US" sz="120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파일끼리 서로 엉키지 않아서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독립적으로 수정 가능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13597740" y="4971713"/>
            <a:ext cx="2186050" cy="20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world  # main→world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3499869" y="53675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499869" y="5367528"/>
            <a:ext cx="45720" cy="128016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73" name="Text 71"/>
          <p:cNvSpPr/>
          <p:nvPr/>
        </p:nvSpPr>
        <p:spPr>
          <a:xfrm>
            <a:off x="13609238" y="53810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84F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3965589" y="54464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없어도 되는 건 죽여도 안 죽게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13679016" y="5728168"/>
            <a:ext cx="4023360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없어도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</a:rPr>
              <a:t>,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써둔 대사로 전환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try/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except로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에러가 나면 미리 </a:t>
            </a:r>
            <a:r>
              <a:rPr lang="ko-KR" alt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써둔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대사로 변경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6" name="Text 74"/>
          <p:cNvSpPr/>
          <p:nvPr/>
        </p:nvSpPr>
        <p:spPr>
          <a:xfrm>
            <a:off x="13597740" y="6323318"/>
            <a:ext cx="4595686" cy="20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_call_api(prompt) or _fallback(</a:t>
            </a:r>
            <a:r>
              <a:rPr lang="ko-KR" alt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대사</a:t>
            </a:r>
            <a:r>
              <a:rPr lang="en-US" altLang="ko-KR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9" name="Shape 8">
            <a:extLst>
              <a:ext uri="{FF2B5EF4-FFF2-40B4-BE49-F238E27FC236}">
                <a16:creationId xmlns:a16="http://schemas.microsoft.com/office/drawing/2014/main" id="{46337A42-EC3A-4060-9AEB-4B9DAA3E5834}"/>
              </a:ext>
            </a:extLst>
          </p:cNvPr>
          <p:cNvSpPr/>
          <p:nvPr/>
        </p:nvSpPr>
        <p:spPr>
          <a:xfrm>
            <a:off x="2611690" y="329392"/>
            <a:ext cx="6466114" cy="1005840"/>
          </a:xfrm>
          <a:prstGeom prst="rect">
            <a:avLst/>
          </a:prstGeom>
          <a:solidFill>
            <a:srgbClr val="1A1200"/>
          </a:solidFill>
          <a:ln w="25400">
            <a:solidFill>
              <a:srgbClr val="F0C040"/>
            </a:solidFill>
            <a:prstDash val="solid"/>
          </a:ln>
        </p:spPr>
      </p:sp>
      <p:sp>
        <p:nvSpPr>
          <p:cNvPr id="80" name="Shape 9">
            <a:extLst>
              <a:ext uri="{FF2B5EF4-FFF2-40B4-BE49-F238E27FC236}">
                <a16:creationId xmlns:a16="http://schemas.microsoft.com/office/drawing/2014/main" id="{6DC91943-90F2-459C-8EFC-326289255786}"/>
              </a:ext>
            </a:extLst>
          </p:cNvPr>
          <p:cNvSpPr/>
          <p:nvPr/>
        </p:nvSpPr>
        <p:spPr>
          <a:xfrm>
            <a:off x="2611690" y="329392"/>
            <a:ext cx="100584" cy="100584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81" name="Text 10">
            <a:extLst>
              <a:ext uri="{FF2B5EF4-FFF2-40B4-BE49-F238E27FC236}">
                <a16:creationId xmlns:a16="http://schemas.microsoft.com/office/drawing/2014/main" id="{36006AF0-65B7-49BC-91F4-D8528439C2FF}"/>
              </a:ext>
            </a:extLst>
          </p:cNvPr>
          <p:cNvSpPr/>
          <p:nvPr/>
        </p:nvSpPr>
        <p:spPr>
          <a:xfrm>
            <a:off x="2899073" y="401238"/>
            <a:ext cx="589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600" dirty="0"/>
          </a:p>
        </p:txBody>
      </p:sp>
      <p:sp>
        <p:nvSpPr>
          <p:cNvPr id="82" name="Text 11">
            <a:extLst>
              <a:ext uri="{FF2B5EF4-FFF2-40B4-BE49-F238E27FC236}">
                <a16:creationId xmlns:a16="http://schemas.microsoft.com/office/drawing/2014/main" id="{88CF869B-22DE-4614-8E67-A6B95091A3A8}"/>
              </a:ext>
            </a:extLst>
          </p:cNvPr>
          <p:cNvSpPr/>
          <p:nvPr/>
        </p:nvSpPr>
        <p:spPr>
          <a:xfrm>
            <a:off x="2899073" y="782020"/>
            <a:ext cx="589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시작 · 30층 루프 · 입력 처리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4" name="Text 13">
            <a:extLst>
              <a:ext uri="{FF2B5EF4-FFF2-40B4-BE49-F238E27FC236}">
                <a16:creationId xmlns:a16="http://schemas.microsoft.com/office/drawing/2014/main" id="{25174251-FFB9-419D-A06B-91589A1AC36B}"/>
              </a:ext>
            </a:extLst>
          </p:cNvPr>
          <p:cNvSpPr/>
          <p:nvPr/>
        </p:nvSpPr>
        <p:spPr>
          <a:xfrm>
            <a:off x="3439875" y="1490474"/>
            <a:ext cx="1809585" cy="29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world</a:t>
            </a:r>
            <a:endParaRPr lang="en-US" sz="1600" dirty="0"/>
          </a:p>
        </p:txBody>
      </p:sp>
      <p:sp>
        <p:nvSpPr>
          <p:cNvPr id="86" name="Text 15">
            <a:extLst>
              <a:ext uri="{FF2B5EF4-FFF2-40B4-BE49-F238E27FC236}">
                <a16:creationId xmlns:a16="http://schemas.microsoft.com/office/drawing/2014/main" id="{136B0C12-9C12-4AFB-B77D-9A9458C6CDE4}"/>
              </a:ext>
            </a:extLst>
          </p:cNvPr>
          <p:cNvSpPr/>
          <p:nvPr/>
        </p:nvSpPr>
        <p:spPr>
          <a:xfrm>
            <a:off x="8087610" y="1501903"/>
            <a:ext cx="166551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visuals</a:t>
            </a:r>
            <a:endParaRPr lang="en-US" sz="1600" dirty="0"/>
          </a:p>
        </p:txBody>
      </p:sp>
      <p:sp>
        <p:nvSpPr>
          <p:cNvPr id="87" name="Shape 16">
            <a:extLst>
              <a:ext uri="{FF2B5EF4-FFF2-40B4-BE49-F238E27FC236}">
                <a16:creationId xmlns:a16="http://schemas.microsoft.com/office/drawing/2014/main" id="{04556D39-E419-4E4C-87B4-4583F195788B}"/>
              </a:ext>
            </a:extLst>
          </p:cNvPr>
          <p:cNvSpPr/>
          <p:nvPr/>
        </p:nvSpPr>
        <p:spPr>
          <a:xfrm>
            <a:off x="1638507" y="1981963"/>
            <a:ext cx="4114800" cy="928115"/>
          </a:xfrm>
          <a:prstGeom prst="rect">
            <a:avLst/>
          </a:prstGeom>
          <a:solidFill>
            <a:srgbClr val="001328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88" name="Shape 17">
            <a:extLst>
              <a:ext uri="{FF2B5EF4-FFF2-40B4-BE49-F238E27FC236}">
                <a16:creationId xmlns:a16="http://schemas.microsoft.com/office/drawing/2014/main" id="{BCB73E8F-C83F-4976-A603-B60F0750E971}"/>
              </a:ext>
            </a:extLst>
          </p:cNvPr>
          <p:cNvSpPr/>
          <p:nvPr/>
        </p:nvSpPr>
        <p:spPr>
          <a:xfrm>
            <a:off x="1638507" y="1981963"/>
            <a:ext cx="68580" cy="928115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9" name="Text 18">
            <a:extLst>
              <a:ext uri="{FF2B5EF4-FFF2-40B4-BE49-F238E27FC236}">
                <a16:creationId xmlns:a16="http://schemas.microsoft.com/office/drawing/2014/main" id="{89B8BA2A-059E-432F-AEBA-34AE034C604A}"/>
              </a:ext>
            </a:extLst>
          </p:cNvPr>
          <p:cNvSpPr/>
          <p:nvPr/>
        </p:nvSpPr>
        <p:spPr>
          <a:xfrm>
            <a:off x="1834450" y="2048257"/>
            <a:ext cx="3722914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1600" dirty="0"/>
          </a:p>
        </p:txBody>
      </p:sp>
      <p:sp>
        <p:nvSpPr>
          <p:cNvPr id="90" name="Text 19">
            <a:extLst>
              <a:ext uri="{FF2B5EF4-FFF2-40B4-BE49-F238E27FC236}">
                <a16:creationId xmlns:a16="http://schemas.microsoft.com/office/drawing/2014/main" id="{6EC77DD5-2920-4945-A64A-7A9097D46692}"/>
              </a:ext>
            </a:extLst>
          </p:cNvPr>
          <p:cNvSpPr/>
          <p:nvPr/>
        </p:nvSpPr>
        <p:spPr>
          <a:xfrm>
            <a:off x="1834450" y="2399615"/>
            <a:ext cx="3722914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 이벤트 · 상점 · 사건 · AI 호출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1" name="Shape 20">
            <a:extLst>
              <a:ext uri="{FF2B5EF4-FFF2-40B4-BE49-F238E27FC236}">
                <a16:creationId xmlns:a16="http://schemas.microsoft.com/office/drawing/2014/main" id="{927AD9F5-BF80-44D8-8ACF-A4462348D4D3}"/>
              </a:ext>
            </a:extLst>
          </p:cNvPr>
          <p:cNvSpPr/>
          <p:nvPr/>
        </p:nvSpPr>
        <p:spPr>
          <a:xfrm>
            <a:off x="6137355" y="1990556"/>
            <a:ext cx="4114797" cy="928114"/>
          </a:xfrm>
          <a:prstGeom prst="rect">
            <a:avLst/>
          </a:prstGeom>
          <a:solidFill>
            <a:srgbClr val="001015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92" name="Shape 21">
            <a:extLst>
              <a:ext uri="{FF2B5EF4-FFF2-40B4-BE49-F238E27FC236}">
                <a16:creationId xmlns:a16="http://schemas.microsoft.com/office/drawing/2014/main" id="{FB263DFA-78B6-4B34-B0DF-9CB68AEB4121}"/>
              </a:ext>
            </a:extLst>
          </p:cNvPr>
          <p:cNvSpPr/>
          <p:nvPr/>
        </p:nvSpPr>
        <p:spPr>
          <a:xfrm>
            <a:off x="6137355" y="1990555"/>
            <a:ext cx="82296" cy="92811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3" name="Text 22">
            <a:extLst>
              <a:ext uri="{FF2B5EF4-FFF2-40B4-BE49-F238E27FC236}">
                <a16:creationId xmlns:a16="http://schemas.microsoft.com/office/drawing/2014/main" id="{E3C5E39C-DDF0-46BD-9865-A37A3777844A}"/>
              </a:ext>
            </a:extLst>
          </p:cNvPr>
          <p:cNvSpPr/>
          <p:nvPr/>
        </p:nvSpPr>
        <p:spPr>
          <a:xfrm>
            <a:off x="6372486" y="2056849"/>
            <a:ext cx="3644534" cy="46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visuals.py</a:t>
            </a:r>
            <a:endParaRPr lang="en-US" sz="1600" dirty="0"/>
          </a:p>
        </p:txBody>
      </p:sp>
      <p:sp>
        <p:nvSpPr>
          <p:cNvPr id="94" name="Text 23">
            <a:extLst>
              <a:ext uri="{FF2B5EF4-FFF2-40B4-BE49-F238E27FC236}">
                <a16:creationId xmlns:a16="http://schemas.microsoft.com/office/drawing/2014/main" id="{24A32FFA-4E9E-4DC8-B6BD-0A5952895D8A}"/>
              </a:ext>
            </a:extLst>
          </p:cNvPr>
          <p:cNvSpPr/>
          <p:nvPr/>
        </p:nvSpPr>
        <p:spPr>
          <a:xfrm>
            <a:off x="6372486" y="2408206"/>
            <a:ext cx="3644534" cy="46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출력 · 헤더 표시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6" name="Text 25">
            <a:extLst>
              <a:ext uri="{FF2B5EF4-FFF2-40B4-BE49-F238E27FC236}">
                <a16:creationId xmlns:a16="http://schemas.microsoft.com/office/drawing/2014/main" id="{4D7394C7-F1A8-4A5A-B6AE-00B05822D254}"/>
              </a:ext>
            </a:extLst>
          </p:cNvPr>
          <p:cNvSpPr/>
          <p:nvPr/>
        </p:nvSpPr>
        <p:spPr>
          <a:xfrm>
            <a:off x="3481213" y="298666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combat</a:t>
            </a:r>
            <a:endParaRPr lang="en-US" sz="1600" dirty="0"/>
          </a:p>
        </p:txBody>
      </p:sp>
      <p:sp>
        <p:nvSpPr>
          <p:cNvPr id="98" name="Text 27">
            <a:extLst>
              <a:ext uri="{FF2B5EF4-FFF2-40B4-BE49-F238E27FC236}">
                <a16:creationId xmlns:a16="http://schemas.microsoft.com/office/drawing/2014/main" id="{FBDA94D5-5680-484F-B01A-E42E29AF68BA}"/>
              </a:ext>
            </a:extLst>
          </p:cNvPr>
          <p:cNvSpPr/>
          <p:nvPr/>
        </p:nvSpPr>
        <p:spPr>
          <a:xfrm>
            <a:off x="5649981" y="3029979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ai_manager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9" name="Shape 28">
            <a:extLst>
              <a:ext uri="{FF2B5EF4-FFF2-40B4-BE49-F238E27FC236}">
                <a16:creationId xmlns:a16="http://schemas.microsoft.com/office/drawing/2014/main" id="{4E6AE311-4C51-4B93-AA97-D28332449D3F}"/>
              </a:ext>
            </a:extLst>
          </p:cNvPr>
          <p:cNvSpPr/>
          <p:nvPr/>
        </p:nvSpPr>
        <p:spPr>
          <a:xfrm>
            <a:off x="1638507" y="3344374"/>
            <a:ext cx="3711840" cy="957760"/>
          </a:xfrm>
          <a:prstGeom prst="rect">
            <a:avLst/>
          </a:prstGeom>
          <a:solidFill>
            <a:srgbClr val="1A0A0A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00" name="Shape 29">
            <a:extLst>
              <a:ext uri="{FF2B5EF4-FFF2-40B4-BE49-F238E27FC236}">
                <a16:creationId xmlns:a16="http://schemas.microsoft.com/office/drawing/2014/main" id="{4D155592-65AA-4286-B766-724D1E9D9530}"/>
              </a:ext>
            </a:extLst>
          </p:cNvPr>
          <p:cNvSpPr/>
          <p:nvPr/>
        </p:nvSpPr>
        <p:spPr>
          <a:xfrm>
            <a:off x="1638507" y="3344374"/>
            <a:ext cx="61864" cy="9577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01" name="Text 30">
            <a:extLst>
              <a:ext uri="{FF2B5EF4-FFF2-40B4-BE49-F238E27FC236}">
                <a16:creationId xmlns:a16="http://schemas.microsoft.com/office/drawing/2014/main" id="{A8FC139D-5B54-478F-AEA3-27BA6C5ED7BA}"/>
              </a:ext>
            </a:extLst>
          </p:cNvPr>
          <p:cNvSpPr/>
          <p:nvPr/>
        </p:nvSpPr>
        <p:spPr>
          <a:xfrm>
            <a:off x="1815261" y="3412785"/>
            <a:ext cx="3358331" cy="47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combat.py</a:t>
            </a:r>
            <a:endParaRPr lang="en-US" sz="1600" dirty="0"/>
          </a:p>
        </p:txBody>
      </p:sp>
      <p:sp>
        <p:nvSpPr>
          <p:cNvPr id="102" name="Text 31">
            <a:extLst>
              <a:ext uri="{FF2B5EF4-FFF2-40B4-BE49-F238E27FC236}">
                <a16:creationId xmlns:a16="http://schemas.microsoft.com/office/drawing/2014/main" id="{B1C44FF4-A523-4EF3-81FD-8C35EDE2BD95}"/>
              </a:ext>
            </a:extLst>
          </p:cNvPr>
          <p:cNvSpPr/>
          <p:nvPr/>
        </p:nvSpPr>
        <p:spPr>
          <a:xfrm>
            <a:off x="1815261" y="3775366"/>
            <a:ext cx="3358331" cy="47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진행 · 카드 효과 · 상태이상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3" name="Shape 32">
            <a:extLst>
              <a:ext uri="{FF2B5EF4-FFF2-40B4-BE49-F238E27FC236}">
                <a16:creationId xmlns:a16="http://schemas.microsoft.com/office/drawing/2014/main" id="{303891B3-0561-41D2-8749-DB27CE881638}"/>
              </a:ext>
            </a:extLst>
          </p:cNvPr>
          <p:cNvSpPr/>
          <p:nvPr/>
        </p:nvSpPr>
        <p:spPr>
          <a:xfrm>
            <a:off x="6138463" y="3391185"/>
            <a:ext cx="4124773" cy="930595"/>
          </a:xfrm>
          <a:prstGeom prst="rect">
            <a:avLst/>
          </a:prstGeom>
          <a:solidFill>
            <a:srgbClr val="12001F"/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104" name="Shape 33">
            <a:extLst>
              <a:ext uri="{FF2B5EF4-FFF2-40B4-BE49-F238E27FC236}">
                <a16:creationId xmlns:a16="http://schemas.microsoft.com/office/drawing/2014/main" id="{508CA96B-3F8C-46CE-A92B-B4003C03A154}"/>
              </a:ext>
            </a:extLst>
          </p:cNvPr>
          <p:cNvSpPr/>
          <p:nvPr/>
        </p:nvSpPr>
        <p:spPr>
          <a:xfrm>
            <a:off x="6144238" y="3391185"/>
            <a:ext cx="68746" cy="930595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05" name="Text 34">
            <a:extLst>
              <a:ext uri="{FF2B5EF4-FFF2-40B4-BE49-F238E27FC236}">
                <a16:creationId xmlns:a16="http://schemas.microsoft.com/office/drawing/2014/main" id="{F6963E03-25C5-46DB-B6C1-DE368F1B5582}"/>
              </a:ext>
            </a:extLst>
          </p:cNvPr>
          <p:cNvSpPr/>
          <p:nvPr/>
        </p:nvSpPr>
        <p:spPr>
          <a:xfrm>
            <a:off x="6334881" y="3457656"/>
            <a:ext cx="3731937" cy="465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player.py</a:t>
            </a:r>
            <a:endParaRPr lang="en-US" sz="1600" dirty="0"/>
          </a:p>
        </p:txBody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AE3AE85E-B89F-484B-8668-151E069D9195}"/>
              </a:ext>
            </a:extLst>
          </p:cNvPr>
          <p:cNvSpPr/>
          <p:nvPr/>
        </p:nvSpPr>
        <p:spPr>
          <a:xfrm>
            <a:off x="6340656" y="3809953"/>
            <a:ext cx="3731937" cy="465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 · 에너지 · 덱 · 유물 합성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0" name="Text 39">
            <a:extLst>
              <a:ext uri="{FF2B5EF4-FFF2-40B4-BE49-F238E27FC236}">
                <a16:creationId xmlns:a16="http://schemas.microsoft.com/office/drawing/2014/main" id="{F5ED9384-7652-43D7-BB9B-80F99C88799B}"/>
              </a:ext>
            </a:extLst>
          </p:cNvPr>
          <p:cNvSpPr/>
          <p:nvPr/>
        </p:nvSpPr>
        <p:spPr>
          <a:xfrm>
            <a:off x="3901647" y="4380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assets</a:t>
            </a:r>
            <a:endParaRPr lang="en-US" sz="1600" dirty="0"/>
          </a:p>
        </p:txBody>
      </p:sp>
      <p:sp>
        <p:nvSpPr>
          <p:cNvPr id="112" name="Text 41">
            <a:extLst>
              <a:ext uri="{FF2B5EF4-FFF2-40B4-BE49-F238E27FC236}">
                <a16:creationId xmlns:a16="http://schemas.microsoft.com/office/drawing/2014/main" id="{6B30FE94-4B6F-45DF-8C26-F5DB7257F45E}"/>
              </a:ext>
            </a:extLst>
          </p:cNvPr>
          <p:cNvSpPr/>
          <p:nvPr/>
        </p:nvSpPr>
        <p:spPr>
          <a:xfrm>
            <a:off x="8073853" y="4380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assets</a:t>
            </a:r>
            <a:endParaRPr lang="en-US" sz="1600" dirty="0"/>
          </a:p>
        </p:txBody>
      </p:sp>
      <p:sp>
        <p:nvSpPr>
          <p:cNvPr id="113" name="Shape 42">
            <a:extLst>
              <a:ext uri="{FF2B5EF4-FFF2-40B4-BE49-F238E27FC236}">
                <a16:creationId xmlns:a16="http://schemas.microsoft.com/office/drawing/2014/main" id="{4F084F95-C967-4FC8-8221-F128D8EE6EC2}"/>
              </a:ext>
            </a:extLst>
          </p:cNvPr>
          <p:cNvSpPr/>
          <p:nvPr/>
        </p:nvSpPr>
        <p:spPr>
          <a:xfrm>
            <a:off x="2415747" y="4739308"/>
            <a:ext cx="7040880" cy="685800"/>
          </a:xfrm>
          <a:prstGeom prst="rect">
            <a:avLst/>
          </a:prstGeom>
          <a:solidFill>
            <a:srgbClr val="001A0F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14" name="Shape 43">
            <a:extLst>
              <a:ext uri="{FF2B5EF4-FFF2-40B4-BE49-F238E27FC236}">
                <a16:creationId xmlns:a16="http://schemas.microsoft.com/office/drawing/2014/main" id="{7E09D842-A0AE-4D2C-9604-2D23B6F19A22}"/>
              </a:ext>
            </a:extLst>
          </p:cNvPr>
          <p:cNvSpPr/>
          <p:nvPr/>
        </p:nvSpPr>
        <p:spPr>
          <a:xfrm>
            <a:off x="2415747" y="4739308"/>
            <a:ext cx="64008" cy="685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5" name="Text 44">
            <a:extLst>
              <a:ext uri="{FF2B5EF4-FFF2-40B4-BE49-F238E27FC236}">
                <a16:creationId xmlns:a16="http://schemas.microsoft.com/office/drawing/2014/main" id="{F069C533-18DD-45C6-A624-982BBB9BDD46}"/>
              </a:ext>
            </a:extLst>
          </p:cNvPr>
          <p:cNvSpPr/>
          <p:nvPr/>
        </p:nvSpPr>
        <p:spPr>
          <a:xfrm>
            <a:off x="2598627" y="4785028"/>
            <a:ext cx="6675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assets.py</a:t>
            </a:r>
            <a:endParaRPr lang="en-US" sz="1600" dirty="0"/>
          </a:p>
        </p:txBody>
      </p:sp>
      <p:sp>
        <p:nvSpPr>
          <p:cNvPr id="116" name="Text 45">
            <a:extLst>
              <a:ext uri="{FF2B5EF4-FFF2-40B4-BE49-F238E27FC236}">
                <a16:creationId xmlns:a16="http://schemas.microsoft.com/office/drawing/2014/main" id="{F5C67433-3D6B-44F4-A34E-F8D2185D7D76}"/>
              </a:ext>
            </a:extLst>
          </p:cNvPr>
          <p:cNvSpPr/>
          <p:nvPr/>
        </p:nvSpPr>
        <p:spPr>
          <a:xfrm>
            <a:off x="2598627" y="5047918"/>
            <a:ext cx="6675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20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20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20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ko-KR" altLang="en-US" sz="2000" kern="0" spc="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ko-KR" altLang="en-US" sz="20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딕셔너리로</a:t>
            </a: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저장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8" name="Shape 47">
            <a:extLst>
              <a:ext uri="{FF2B5EF4-FFF2-40B4-BE49-F238E27FC236}">
                <a16:creationId xmlns:a16="http://schemas.microsoft.com/office/drawing/2014/main" id="{9EF4D88E-DA94-417C-9E66-C3EB9F2EFB43}"/>
              </a:ext>
            </a:extLst>
          </p:cNvPr>
          <p:cNvSpPr/>
          <p:nvPr/>
        </p:nvSpPr>
        <p:spPr>
          <a:xfrm>
            <a:off x="3375867" y="5916168"/>
            <a:ext cx="5029200" cy="640080"/>
          </a:xfrm>
          <a:prstGeom prst="rect">
            <a:avLst/>
          </a:prstGeom>
          <a:solidFill>
            <a:srgbClr val="111111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119" name="Shape 48">
            <a:extLst>
              <a:ext uri="{FF2B5EF4-FFF2-40B4-BE49-F238E27FC236}">
                <a16:creationId xmlns:a16="http://schemas.microsoft.com/office/drawing/2014/main" id="{CD2686F8-C937-4A18-AEF2-64813D21573E}"/>
              </a:ext>
            </a:extLst>
          </p:cNvPr>
          <p:cNvSpPr/>
          <p:nvPr/>
        </p:nvSpPr>
        <p:spPr>
          <a:xfrm>
            <a:off x="3375867" y="5916168"/>
            <a:ext cx="64008" cy="6400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20" name="Text 49">
            <a:extLst>
              <a:ext uri="{FF2B5EF4-FFF2-40B4-BE49-F238E27FC236}">
                <a16:creationId xmlns:a16="http://schemas.microsoft.com/office/drawing/2014/main" id="{8A1F5DBD-968F-4310-B571-E40EBFE4814C}"/>
              </a:ext>
            </a:extLst>
          </p:cNvPr>
          <p:cNvSpPr/>
          <p:nvPr/>
        </p:nvSpPr>
        <p:spPr>
          <a:xfrm>
            <a:off x="3558747" y="5961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ai_manager.py</a:t>
            </a:r>
            <a:endParaRPr lang="en-US" sz="1600" dirty="0"/>
          </a:p>
        </p:txBody>
      </p:sp>
      <p:sp>
        <p:nvSpPr>
          <p:cNvPr id="121" name="Text 50">
            <a:extLst>
              <a:ext uri="{FF2B5EF4-FFF2-40B4-BE49-F238E27FC236}">
                <a16:creationId xmlns:a16="http://schemas.microsoft.com/office/drawing/2014/main" id="{95BEB0D3-A1F5-4483-A2D0-3C1FB0E117F6}"/>
              </a:ext>
            </a:extLst>
          </p:cNvPr>
          <p:cNvSpPr/>
          <p:nvPr/>
        </p:nvSpPr>
        <p:spPr>
          <a:xfrm>
            <a:off x="3558747" y="62042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내레이션 · API 없으면 미리 쓴 대사로 자동 전환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7" name="Text 36">
            <a:extLst>
              <a:ext uri="{FF2B5EF4-FFF2-40B4-BE49-F238E27FC236}">
                <a16:creationId xmlns:a16="http://schemas.microsoft.com/office/drawing/2014/main" id="{B55BA35D-29DF-4FE6-ABC7-761BAC3DA6C9}"/>
              </a:ext>
            </a:extLst>
          </p:cNvPr>
          <p:cNvSpPr/>
          <p:nvPr/>
        </p:nvSpPr>
        <p:spPr>
          <a:xfrm>
            <a:off x="5626739" y="4387264"/>
            <a:ext cx="1369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player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138" name="Shape 45">
            <a:extLst>
              <a:ext uri="{FF2B5EF4-FFF2-40B4-BE49-F238E27FC236}">
                <a16:creationId xmlns:a16="http://schemas.microsoft.com/office/drawing/2014/main" id="{D9CE1BD2-7D1B-400A-82B2-E3A956BEE141}"/>
              </a:ext>
            </a:extLst>
          </p:cNvPr>
          <p:cNvSpPr/>
          <p:nvPr/>
        </p:nvSpPr>
        <p:spPr>
          <a:xfrm>
            <a:off x="2415748" y="5701345"/>
            <a:ext cx="7078116" cy="41951"/>
          </a:xfrm>
          <a:prstGeom prst="lin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</p:sp>
      <p:sp>
        <p:nvSpPr>
          <p:cNvPr id="139" name="Text 50">
            <a:extLst>
              <a:ext uri="{FF2B5EF4-FFF2-40B4-BE49-F238E27FC236}">
                <a16:creationId xmlns:a16="http://schemas.microsoft.com/office/drawing/2014/main" id="{A3827E58-0237-4A98-8BA1-FDBA42CD981C}"/>
              </a:ext>
            </a:extLst>
          </p:cNvPr>
          <p:cNvSpPr/>
          <p:nvPr/>
        </p:nvSpPr>
        <p:spPr>
          <a:xfrm>
            <a:off x="8497563" y="6075980"/>
            <a:ext cx="1876979" cy="30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없어도 게임 정상 작동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0" name="Shape 11">
            <a:extLst>
              <a:ext uri="{FF2B5EF4-FFF2-40B4-BE49-F238E27FC236}">
                <a16:creationId xmlns:a16="http://schemas.microsoft.com/office/drawing/2014/main" id="{F5B3DC4F-BE75-4235-8023-639C919CCE7B}"/>
              </a:ext>
            </a:extLst>
          </p:cNvPr>
          <p:cNvSpPr/>
          <p:nvPr/>
        </p:nvSpPr>
        <p:spPr>
          <a:xfrm>
            <a:off x="3255946" y="1341883"/>
            <a:ext cx="0" cy="648672"/>
          </a:xfrm>
          <a:prstGeom prst="line">
            <a:avLst/>
          </a:prstGeom>
          <a:noFill/>
          <a:ln w="25400">
            <a:solidFill>
              <a:srgbClr val="F1C040"/>
            </a:solidFill>
            <a:prstDash val="solid"/>
            <a:tailEnd type="triangle"/>
          </a:ln>
        </p:spPr>
      </p:sp>
      <p:sp>
        <p:nvSpPr>
          <p:cNvPr id="142" name="Shape 23">
            <a:extLst>
              <a:ext uri="{FF2B5EF4-FFF2-40B4-BE49-F238E27FC236}">
                <a16:creationId xmlns:a16="http://schemas.microsoft.com/office/drawing/2014/main" id="{F1F92D93-E678-41FF-867E-D2F8C83D733B}"/>
              </a:ext>
            </a:extLst>
          </p:cNvPr>
          <p:cNvSpPr/>
          <p:nvPr/>
        </p:nvSpPr>
        <p:spPr>
          <a:xfrm>
            <a:off x="3375867" y="2910078"/>
            <a:ext cx="0" cy="434296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145" name="Shape 37">
            <a:extLst>
              <a:ext uri="{FF2B5EF4-FFF2-40B4-BE49-F238E27FC236}">
                <a16:creationId xmlns:a16="http://schemas.microsoft.com/office/drawing/2014/main" id="{6C8E5E8C-FEC4-47A4-A9C9-150DBC5147B4}"/>
              </a:ext>
            </a:extLst>
          </p:cNvPr>
          <p:cNvSpPr/>
          <p:nvPr/>
        </p:nvSpPr>
        <p:spPr>
          <a:xfrm>
            <a:off x="3773699" y="4302135"/>
            <a:ext cx="0" cy="444032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146" name="Shape 39">
            <a:extLst>
              <a:ext uri="{FF2B5EF4-FFF2-40B4-BE49-F238E27FC236}">
                <a16:creationId xmlns:a16="http://schemas.microsoft.com/office/drawing/2014/main" id="{46EBB9C5-5E98-4BC2-9D0C-80EC6615520C}"/>
              </a:ext>
            </a:extLst>
          </p:cNvPr>
          <p:cNvSpPr/>
          <p:nvPr/>
        </p:nvSpPr>
        <p:spPr>
          <a:xfrm>
            <a:off x="7870117" y="4321780"/>
            <a:ext cx="0" cy="417528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147" name="Shape 13">
            <a:extLst>
              <a:ext uri="{FF2B5EF4-FFF2-40B4-BE49-F238E27FC236}">
                <a16:creationId xmlns:a16="http://schemas.microsoft.com/office/drawing/2014/main" id="{4B91E104-147B-4E00-AFEC-22D8537ED975}"/>
              </a:ext>
            </a:extLst>
          </p:cNvPr>
          <p:cNvSpPr/>
          <p:nvPr/>
        </p:nvSpPr>
        <p:spPr>
          <a:xfrm>
            <a:off x="7870117" y="1341883"/>
            <a:ext cx="0" cy="640080"/>
          </a:xfrm>
          <a:prstGeom prst="line">
            <a:avLst/>
          </a:prstGeom>
          <a:noFill/>
          <a:ln w="25400">
            <a:solidFill>
              <a:srgbClr val="F2C040"/>
            </a:solidFill>
            <a:prstDash val="solid"/>
            <a:tailEnd type="triangle"/>
          </a:ln>
        </p:spPr>
      </p:sp>
      <p:sp>
        <p:nvSpPr>
          <p:cNvPr id="148" name="Shape 35">
            <a:extLst>
              <a:ext uri="{FF2B5EF4-FFF2-40B4-BE49-F238E27FC236}">
                <a16:creationId xmlns:a16="http://schemas.microsoft.com/office/drawing/2014/main" id="{0457618E-2E7D-468F-BD72-9093B00D4004}"/>
              </a:ext>
            </a:extLst>
          </p:cNvPr>
          <p:cNvSpPr/>
          <p:nvPr/>
        </p:nvSpPr>
        <p:spPr>
          <a:xfrm>
            <a:off x="5350347" y="4231124"/>
            <a:ext cx="78700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641797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9D3BC775-6FDA-45D8-A4D4-B8EDD2E89F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137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분담  |  모듈 기반 병렬 작업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5793"/>
            <a:ext cx="1574800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ROLES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모듈화 덕분에 파일 단위로 독립 개발 가능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080760" y="1945873"/>
            <a:ext cx="0" cy="448056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1945873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임우솔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2403073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흐름  ·  전투 엔진  · 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814553"/>
            <a:ext cx="53949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2814553"/>
            <a:ext cx="54864" cy="118872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05993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60980" y="2905993"/>
            <a:ext cx="1106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루프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253465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main() — 1~30층 while 루프로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swap(),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show_detailed_status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호출로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키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40433"/>
            <a:ext cx="53949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40433"/>
            <a:ext cx="54864" cy="1188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231873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combat.py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760980" y="4231873"/>
            <a:ext cx="1106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엔진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5800" y="4579345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run_combat() — 전투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process_turn_statuses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 —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독/화상/기절 턴마다 처리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466313"/>
            <a:ext cx="53949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466313"/>
            <a:ext cx="54864" cy="1188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557753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player.py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760980" y="5557753"/>
            <a:ext cx="1106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 관리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" y="5905225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reset_energy() —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리셋 / 후방 +1 충전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draw_cards() — 매 턴 덱에서 4장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check_synthesis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 —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2개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소지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자동 합성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1945873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A5F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이준민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400800" y="2403073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 ·  AI 내레이션  ·  세계 이벤트  ·  UI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2814553"/>
            <a:ext cx="53949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814553"/>
            <a:ext cx="54864" cy="868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288770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assets.py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36024" y="2887705"/>
            <a:ext cx="79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데이터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29400" y="318031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카드·몬스터·유물·사건 데이터를 딕셔너리로 저장,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층에 따라 몬스터를 강하게 만드는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스케일링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함수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3820393"/>
            <a:ext cx="53949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820393"/>
            <a:ext cx="54864" cy="8686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389354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36024" y="3893545"/>
            <a:ext cx="79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 이벤트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29400" y="418615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전투/사건/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출현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결정하는 generate_floor_event(),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handle_shop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</a:t>
            </a:r>
            <a:r>
              <a:rPr lang="en-US" altLang="ko-KR" sz="12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사건 처리 handle_random_event()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0" y="4826233"/>
            <a:ext cx="53949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4826233"/>
            <a:ext cx="54864" cy="8686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41" name="Text 39"/>
          <p:cNvSpPr/>
          <p:nvPr/>
        </p:nvSpPr>
        <p:spPr>
          <a:xfrm>
            <a:off x="6629400" y="489938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ai_manager.py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836024" y="4899385"/>
            <a:ext cx="79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내레이션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29400" y="519199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묘사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get_battle_intro(),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실패 시 미리 써둔 대사로 자동 전환하는 fallback 구조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0" y="5832073"/>
            <a:ext cx="53949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5832073"/>
            <a:ext cx="54864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6" name="Text 44"/>
          <p:cNvSpPr/>
          <p:nvPr/>
        </p:nvSpPr>
        <p:spPr>
          <a:xfrm>
            <a:off x="6629400" y="590522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visuals.py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36024" y="5905225"/>
            <a:ext cx="79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출력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6629400" y="619783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초기화, 층 헤더 표시 등 UI 렌더링 담당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884EE25D-DB55-4C73-B5EB-CA0C88631E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Shape 0"/>
          <p:cNvSpPr/>
          <p:nvPr/>
        </p:nvSpPr>
        <p:spPr>
          <a:xfrm>
            <a:off x="5166360" y="1097280"/>
            <a:ext cx="1828800" cy="36576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 OF  PYTHON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3200400"/>
            <a:ext cx="48463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381197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UPDATES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840480"/>
            <a:ext cx="256032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840480"/>
            <a:ext cx="2560320" cy="4572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0005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C040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세이브 / 로드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1956" y="4366257"/>
            <a:ext cx="3048008" cy="73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진행 상태를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json으로 저장·불러오기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29000" y="3840480"/>
            <a:ext cx="256032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3840480"/>
            <a:ext cx="256032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40005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난이도 선택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85156" y="4366257"/>
            <a:ext cx="3048008" cy="73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쉬움/보통/어려움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 스케일링 배율 조절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72200" y="3840480"/>
            <a:ext cx="256032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840480"/>
            <a:ext cx="2560320" cy="45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0005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유물 조합식 사전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28356" y="4366257"/>
            <a:ext cx="3048008" cy="73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유물끼리 합성되는지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도감으로 확인 가능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915400" y="3840480"/>
            <a:ext cx="256032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3840480"/>
            <a:ext cx="25603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8915400" y="40005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사건 추가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71556" y="4366257"/>
            <a:ext cx="3048008" cy="73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랜덤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추가로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하기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7600" y="5623560"/>
            <a:ext cx="48463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6276109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2062</Words>
  <Application>Microsoft Office PowerPoint</Application>
  <PresentationFormat>와이드스크린</PresentationFormat>
  <Paragraphs>453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Pretendard ExtraBold</vt:lpstr>
      <vt:lpstr>Pretendard</vt:lpstr>
      <vt:lpstr>Arial</vt:lpstr>
      <vt:lpstr>Consolas</vt:lpstr>
      <vt:lpstr>Pretendard Bold</vt:lpstr>
      <vt:lpstr>Pretendard Black</vt:lpstr>
      <vt:lpstr>Pretendard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 Floors of Python</dc:title>
  <dc:subject>PptxGenJS Presentation</dc:subject>
  <dc:creator>30 floors</dc:creator>
  <cp:lastModifiedBy>준민 이</cp:lastModifiedBy>
  <cp:revision>138</cp:revision>
  <dcterms:created xsi:type="dcterms:W3CDTF">2026-05-04T13:45:40Z</dcterms:created>
  <dcterms:modified xsi:type="dcterms:W3CDTF">2026-05-06T10:01:25Z</dcterms:modified>
</cp:coreProperties>
</file>